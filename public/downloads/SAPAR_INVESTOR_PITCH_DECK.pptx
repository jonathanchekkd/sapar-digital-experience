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e1884f3e564baa" /><Relationship Type="http://schemas.openxmlformats.org/officeDocument/2006/relationships/extended-properties" Target="/docProps/app.xml" Id="R2ab2395d63474b36" /><Relationship Type="http://schemas.openxmlformats.org/officeDocument/2006/relationships/officeDocument" Target="/ppt/presentation.xml" Id="Rdca32877af8f44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95b762d054bf0"/>
  </p:sldMasterIdLst>
  <p:notesMasterIdLst>
    <p:notesMasterId xmlns:r="http://schemas.openxmlformats.org/officeDocument/2006/relationships" r:id="R06216f78c83d44c0"/>
  </p:notesMasterIdLst>
  <p:sldIdLst>
    <p:sldId xmlns:r="http://schemas.openxmlformats.org/officeDocument/2006/relationships" id="256" r:id="R248b2e9da391495b"/>
    <p:sldId xmlns:r="http://schemas.openxmlformats.org/officeDocument/2006/relationships" id="257" r:id="R8f465395979e4b37"/>
    <p:sldId xmlns:r="http://schemas.openxmlformats.org/officeDocument/2006/relationships" id="258" r:id="R771c922d2d694a80"/>
    <p:sldId xmlns:r="http://schemas.openxmlformats.org/officeDocument/2006/relationships" id="259" r:id="Rde71bff8afe243ed"/>
    <p:sldId xmlns:r="http://schemas.openxmlformats.org/officeDocument/2006/relationships" id="260" r:id="R61e4e4afcf7a4310"/>
    <p:sldId xmlns:r="http://schemas.openxmlformats.org/officeDocument/2006/relationships" id="261" r:id="Rb800f8b3825d4e21"/>
    <p:sldId xmlns:r="http://schemas.openxmlformats.org/officeDocument/2006/relationships" id="262" r:id="R17169532856f4aac"/>
    <p:sldId xmlns:r="http://schemas.openxmlformats.org/officeDocument/2006/relationships" id="263" r:id="R45d730f104d442ab"/>
    <p:sldId xmlns:r="http://schemas.openxmlformats.org/officeDocument/2006/relationships" id="264" r:id="Rd31e6828d435429f"/>
    <p:sldId xmlns:r="http://schemas.openxmlformats.org/officeDocument/2006/relationships" id="265" r:id="Rb3282b356549445f"/>
    <p:sldId xmlns:r="http://schemas.openxmlformats.org/officeDocument/2006/relationships" id="266" r:id="R6f9bc49056994739"/>
    <p:sldId xmlns:r="http://schemas.openxmlformats.org/officeDocument/2006/relationships" id="267" r:id="R2f3185f25a9746e2"/>
    <p:sldId xmlns:r="http://schemas.openxmlformats.org/officeDocument/2006/relationships" id="268" r:id="R67bf783497764dc6"/>
    <p:sldId xmlns:r="http://schemas.openxmlformats.org/officeDocument/2006/relationships" id="269" r:id="R085a92178a8545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6ccd21d8b043dc" /><Relationship Type="http://schemas.openxmlformats.org/officeDocument/2006/relationships/slideMaster" Target="/ppt/slideMasters/slideMaster1.xml" Id="R96b95b762d054bf0" /><Relationship Type="http://schemas.openxmlformats.org/officeDocument/2006/relationships/notesMaster" Target="/ppt/notesMasters/notesMaster1.xml" Id="R06216f78c83d44c0" /><Relationship Type="http://schemas.openxmlformats.org/officeDocument/2006/relationships/presProps" Target="/ppt/presProps.xml" Id="R367a7e61569b4da2" /><Relationship Type="http://schemas.openxmlformats.org/officeDocument/2006/relationships/tableStyles" Target="/ppt/tableStyles.xml" Id="Rd1e7a720c91e4cb3" /><Relationship Type="http://schemas.openxmlformats.org/officeDocument/2006/relationships/slide" Target="/ppt/slides/slide1.xml" Id="R248b2e9da391495b" /><Relationship Type="http://schemas.openxmlformats.org/officeDocument/2006/relationships/slide" Target="/ppt/slides/slide2.xml" Id="R8f465395979e4b37" /><Relationship Type="http://schemas.openxmlformats.org/officeDocument/2006/relationships/slide" Target="/ppt/slides/slide3.xml" Id="R771c922d2d694a80" /><Relationship Type="http://schemas.openxmlformats.org/officeDocument/2006/relationships/slide" Target="/ppt/slides/slide4.xml" Id="Rde71bff8afe243ed" /><Relationship Type="http://schemas.openxmlformats.org/officeDocument/2006/relationships/slide" Target="/ppt/slides/slide5.xml" Id="R61e4e4afcf7a4310" /><Relationship Type="http://schemas.openxmlformats.org/officeDocument/2006/relationships/slide" Target="/ppt/slides/slide6.xml" Id="Rb800f8b3825d4e21" /><Relationship Type="http://schemas.openxmlformats.org/officeDocument/2006/relationships/slide" Target="/ppt/slides/slide7.xml" Id="R17169532856f4aac" /><Relationship Type="http://schemas.openxmlformats.org/officeDocument/2006/relationships/slide" Target="/ppt/slides/slide8.xml" Id="R45d730f104d442ab" /><Relationship Type="http://schemas.openxmlformats.org/officeDocument/2006/relationships/slide" Target="/ppt/slides/slide9.xml" Id="Rd31e6828d435429f" /><Relationship Type="http://schemas.openxmlformats.org/officeDocument/2006/relationships/slide" Target="/ppt/slides/slide10.xml" Id="Rb3282b356549445f" /><Relationship Type="http://schemas.openxmlformats.org/officeDocument/2006/relationships/slide" Target="/ppt/slides/slide11.xml" Id="R6f9bc49056994739" /><Relationship Type="http://schemas.openxmlformats.org/officeDocument/2006/relationships/slide" Target="/ppt/slides/slide12.xml" Id="R2f3185f25a9746e2" /><Relationship Type="http://schemas.openxmlformats.org/officeDocument/2006/relationships/slide" Target="/ppt/slides/slide13.xml" Id="R67bf783497764dc6" /><Relationship Type="http://schemas.openxmlformats.org/officeDocument/2006/relationships/slide" Target="/ppt/slides/slide14.xml" Id="R085a92178a85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4689b94a64f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f97c3fde448e5" /><Relationship Type="http://schemas.openxmlformats.org/officeDocument/2006/relationships/notesMaster" Target="/ppt/notesMasters/notesMaster1.xml" Id="R3a2b803a1eaf41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f1406ca03407d" /><Relationship Type="http://schemas.openxmlformats.org/officeDocument/2006/relationships/notesMaster" Target="/ppt/notesMasters/notesMaster1.xml" Id="R717b76a122eb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7950a12f54e93" /><Relationship Type="http://schemas.openxmlformats.org/officeDocument/2006/relationships/notesMaster" Target="/ppt/notesMasters/notesMaster1.xml" Id="Rce82065328c34e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f3e2771a0b46a7" /><Relationship Type="http://schemas.openxmlformats.org/officeDocument/2006/relationships/notesMaster" Target="/ppt/notesMasters/notesMaster1.xml" Id="R68b7cd2a3940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8e03af89914400" /><Relationship Type="http://schemas.openxmlformats.org/officeDocument/2006/relationships/notesMaster" Target="/ppt/notesMasters/notesMaster1.xml" Id="Ra691590a70af45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9b8e7a021a4b92" /><Relationship Type="http://schemas.openxmlformats.org/officeDocument/2006/relationships/notesMaster" Target="/ppt/notesMasters/notesMaster1.xml" Id="R0e4cf231f7cd49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52393b4fa7497e" /><Relationship Type="http://schemas.openxmlformats.org/officeDocument/2006/relationships/notesMaster" Target="/ppt/notesMasters/notesMaster1.xml" Id="Rdc0c2bd945c94f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f0bcca245e42b5" /><Relationship Type="http://schemas.openxmlformats.org/officeDocument/2006/relationships/notesMaster" Target="/ppt/notesMasters/notesMaster1.xml" Id="Re04babe1672140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b98ffd2364d4e" /><Relationship Type="http://schemas.openxmlformats.org/officeDocument/2006/relationships/notesMaster" Target="/ppt/notesMasters/notesMaster1.xml" Id="R84f597ca169345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132d0c13794067" /><Relationship Type="http://schemas.openxmlformats.org/officeDocument/2006/relationships/notesMaster" Target="/ppt/notesMasters/notesMaster1.xml" Id="R2feceef4dad649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20b2aa8d534e65" /><Relationship Type="http://schemas.openxmlformats.org/officeDocument/2006/relationships/notesMaster" Target="/ppt/notesMasters/notesMaster1.xml" Id="R120b874ec0a546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152bda57664708" /><Relationship Type="http://schemas.openxmlformats.org/officeDocument/2006/relationships/notesMaster" Target="/ppt/notesMasters/notesMaster1.xml" Id="Re3ab0f8ff15e41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2054df4f044294" /><Relationship Type="http://schemas.openxmlformats.org/officeDocument/2006/relationships/notesMaster" Target="/ppt/notesMasters/notesMaster1.xml" Id="Rd89f56a7005947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35d205a7384758" /><Relationship Type="http://schemas.openxmlformats.org/officeDocument/2006/relationships/notesMaster" Target="/ppt/notesMasters/notesMaster1.xml" Id="R718b91e99ee4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platform vision, then establish that SAPAR advances through proof gates rather than AI promises.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https://saparsport.com/ - public SAPAR positioning: mobile-first platform for Jiu-Jitsu practitioners, gyms, referees, and coaches.</a:t>
            </a:r>
          </a:p>
          <a:p xmlns:a="http://schemas.openxmlformats.org/drawingml/2006/main">
            <a:r>
              <a:t>- https://saparsport.com/assets/sapar-logo-blue-small.svg - SAPAR logo asset.</a:t>
            </a:r>
          </a:p>
          <a:p xmlns:a="http://schemas.openxmlformats.org/drawingml/2006/main">
            <a:r>
              <a:t>- https://saparsport.com/assets/top-image-cropped.png - public SAPAR app composition.</a:t>
            </a:r>
          </a:p>
          <a:p xmlns:a="http://schemas.openxmlformats.org/drawingml/2006/main">
            <a:r>
              <a:t>- Internal feasibility dossier: docs/EXECUTIVE_DECISION.md and docs/AI_ENGINE_DOSSIERS.md.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opportunity as connected infrastructure for the sport, not another isolated social feed.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https://saparsport.com/ - public SAPAR product positioning and Fighter/Gym paths.</a:t>
            </a:r>
          </a:p>
          <a:p xmlns:a="http://schemas.openxmlformats.org/drawingml/2006/main">
            <a:r>
              <a:t>- Internal feasibility dossier: docs/PRODUCT_TRUTH.md - product analogy map and primary user jobs.</a:t>
            </a:r>
          </a:p>
          <a:p xmlns:a="http://schemas.openxmlformats.org/drawingml/2006/main">
            <a:r>
              <a:t>- Internal feasibility dossier: data/domain-entities.json and data/domain-relationships.json - proposed connected domain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product has a strong non-AI value proposition: connect the sport, create trusted records, and improve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https://saparsport.com/ - public Fighter and Gym ecosystem positioning.</a:t>
            </a:r>
          </a:p>
          <a:p xmlns:a="http://schemas.openxmlformats.org/drawingml/2006/main">
            <a:r>
              <a:t>- Internal feasibility dossier: docs/PRODUCT_TRUTH.md - athlete, coach, organizer, referee, scorekeeper, and gym operator jobs.</a:t>
            </a:r>
          </a:p>
          <a:p xmlns:a="http://schemas.openxmlformats.org/drawingml/2006/main">
            <a:r>
              <a:t>- Internal feasibility dossier: docs/TARGET_ARCHITECTURE.md - domain modules and authority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ratings, XP, belt rank, official record, and community status separate. The value proposition is clarity, not one magic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https://saparsport.com/assets/how-it-works/image.png - public SAPAR fighter discovery screen.</a:t>
            </a:r>
          </a:p>
          <a:p xmlns:a="http://schemas.openxmlformats.org/drawingml/2006/main">
            <a:r>
              <a:t>- https://saparsport.com/ - public product positioning.</a:t>
            </a:r>
          </a:p>
          <a:p xmlns:a="http://schemas.openxmlformats.org/drawingml/2006/main">
            <a:r>
              <a:t>- Internal feasibility dossier: docs/PRODUCT_TRUTH.md - athlete jobs and first-wedge workflow.</a:t>
            </a:r>
          </a:p>
          <a:p xmlns:a="http://schemas.openxmlformats.org/drawingml/2006/main">
            <a:r>
              <a:t>- Internal feasibility dossier: docs/RATING_XP_AND_LEADERBOARDS.md - rating, XP, record, and leaderboard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a focused gym pilot: operational proof and retention before nationwide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https://saparsport.com/ - public Sapar for Gym positioning and gym benefit claims.</a:t>
            </a:r>
          </a:p>
          <a:p xmlns:a="http://schemas.openxmlformats.org/drawingml/2006/main">
            <a:r>
              <a:t>- Internal feasibility dossier: docs/PRODUCT_TRUTH.md - gym operator jobs and smart-gym hypothesis.</a:t>
            </a:r>
          </a:p>
          <a:p xmlns:a="http://schemas.openxmlformats.org/drawingml/2006/main">
            <a:r>
              <a:t>- Internal feasibility dossier: docs/MILESTONES.md - bounded community and one-to-three gym pilot exit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answer plainly: the product core is buildable; the hardest AI is a research program with stop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docs/EXECUTIVE_DECISION.md - conventional core feasible and ambitious AI conditional.</a:t>
            </a:r>
          </a:p>
          <a:p xmlns:a="http://schemas.openxmlformats.org/drawingml/2006/main">
            <a:r>
              <a:t>- Internal feasibility dossier: docs/AI_ENGINE_DOSSIERS.md - portfolio sequencing and human-authority boundary.</a:t>
            </a:r>
          </a:p>
          <a:p xmlns:a="http://schemas.openxmlformats.org/drawingml/2006/main">
            <a:r>
              <a:t>- Internal feasibility dossier: data/claims.json - claim-conventional-core-feasible, claim-ledger-first, and claim-autonomous-scoring-not-credible.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deterministic ledger and pilot create the evidence required for bounded AI; perception stays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docs/BUILD_ORDER.md - dependency-aware stages 0 through 6.</a:t>
            </a:r>
          </a:p>
          <a:p xmlns:a="http://schemas.openxmlformats.org/drawingml/2006/main">
            <a:r>
              <a:t>- Internal feasibility dossier: docs/MILESTONES.md and data/milestones.json - entry criteria, exit evidence, owners, and funding decisions.</a:t>
            </a:r>
          </a:p>
          <a:p xmlns:a="http://schemas.openxmlformats.org/drawingml/2006/main">
            <a:r>
              <a:t>- IBJJF rules and referee materials: https://ibjjf.com/books-videos.</a:t>
            </a:r>
          </a:p>
          <a:p xmlns:a="http://schemas.openxmlformats.org/drawingml/2006/main">
            <a:r>
              <a:t>- Association of Boxing Commissions rules: https://www.abcboxing.com/unified-rules/.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governance point explicit: upload permission is not training consent, and model output never becomes official authority by default.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docs/DATA_FLYWHEEL.md - rights, provenance, ontology, labeling, evaluation, correction, and deletion loop.</a:t>
            </a:r>
          </a:p>
          <a:p xmlns:a="http://schemas.openxmlformats.org/drawingml/2006/main">
            <a:r>
              <a:t>- Internal feasibility dossier: docs/DATA_AUTHORITY_AND_LIFECYCLE.md - authoritative, derived, and user-declared data.</a:t>
            </a:r>
          </a:p>
          <a:p xmlns:a="http://schemas.openxmlformats.org/drawingml/2006/main">
            <a:r>
              <a:t>- Internal feasibility dossier: data/data-lifecycle.json and data/data-authority.json.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ladder to show disciplined ambition: a controlled proof can be valuable even if autonomous scoring remains stopped.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https://saparsport.com/assets/why-it-matters/screen-ai-1.png - public SAPAR vision concept image; concept only, not performance evidence.</a:t>
            </a:r>
          </a:p>
          <a:p xmlns:a="http://schemas.openxmlformats.org/drawingml/2006/main">
            <a:r>
              <a:t>- Internal feasibility dossier: docs/EVALUATION_STRATEGY.md - Protocol D controlled tracking and Protocol E small technique ontology.</a:t>
            </a:r>
          </a:p>
          <a:p xmlns:a="http://schemas.openxmlformats.org/drawingml/2006/main">
            <a:r>
              <a:t>- Internal feasibility dossier: docs/AI_ENGINE_DOSSIERS.md - tracking, pose, coarse state, technique, and scoring boundaries.</a:t>
            </a:r>
          </a:p>
          <a:p xmlns:a="http://schemas.openxmlformats.org/drawingml/2006/main">
            <a:r>
              <a:t>- ByteTrack: https://arxiv.org/abs/2110.06864; SportsMOT: https://openaccess.thecvf.com/content/ICCV2023/papers/Cui_SportsMOT_A_Large_Multi-Object_Tracking_Dataset_in_Multiple_Sports_Scenes_ICCV_2023_paper.pdf.</a:t>
            </a:r>
          </a:p>
          <a:p xmlns:a="http://schemas.openxmlformats.org/drawingml/2006/main">
            <a:r>
              <a:t>- Harmony4D: https://proceedings.neurips.cc/paper_files/paper/2024/file/c20b843d0c6b1b40a8e6eb9a44e719c9-Paper-Datasets_and_Benchmarks_Track.pdf; MMPose: https://github.com/open-mmlab/mmpose.</a:t>
            </a:r>
          </a:p>
          <a:p xmlns:a="http://schemas.openxmlformats.org/drawingml/2006/main">
            <a:r>
              <a:t>- ViCoS dataset: https://www2.vicos.si/resources/jiujitsu/ - too narrow and noncommercial for a production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capability as an option to verify, not as proof that SAPAR body tracking is solved. Distinguish deterministic LLM behavior from computer-vision generalization.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- team-reported reusable inference-stability capability; no reproducible artifact supplied to this deck.</a:t>
            </a:r>
          </a:p>
          <a:p xmlns:a="http://schemas.openxmlformats.org/drawingml/2006/main">
            <a:r>
              <a:t>- Internal feasibility dossier: docs/EVALUATION_STRATEGY.md - frozen tests, versioning, baselines, hard strata, abstention, and release packets.</a:t>
            </a:r>
          </a:p>
          <a:p xmlns:a="http://schemas.openxmlformats.org/drawingml/2006/main">
            <a:r>
              <a:t>- Internal feasibility dossier: data/failure-modes.json and docs/DATA_FLYWHEEL.md - drift detection, representation, and rollback requirements.</a:t>
            </a:r>
          </a:p>
          <a:p xmlns:a="http://schemas.openxmlformats.org/drawingml/2006/main">
            <a:r>
              <a:t>- Harmony4D: https://proceedings.neurips.cc/paper_files/paper/2024/file/c20b843d0c6b1b40a8e6eb9a44e719c9-Paper-Datasets_and_Benchmarks_Track.pdf - close-contact domain adaptation pressure.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architecture as deliberately scale-safe, not prematurely distributed: one authority, asynchronous work, and evidence-triggered evolution.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docs/TARGET_ARCHITECTURE.md - pilot topology, domain modules, outbox, projections, and AI boundary.</a:t>
            </a:r>
          </a:p>
          <a:p xmlns:a="http://schemas.openxmlformats.org/drawingml/2006/main">
            <a:r>
              <a:t>- Internal feasibility dossier: docs/RELATIONAL_DATABASE_ARCHITECTURE.md - one authoritative PostgreSQL system and independently scalable workers.</a:t>
            </a:r>
          </a:p>
          <a:p xmlns:a="http://schemas.openxmlformats.org/drawingml/2006/main">
            <a:r>
              <a:t>- Internal feasibility dossier: data/scale-breakpoints.json and data/architecture-transitions.json - evidence-triggered transitions and rollback.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presenting governance as friction. It is how SAPAR protects participants, partners, and the credibility of every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docs/RISKS_AND_GOVERNANCE.md and data/risks.json - risk register and proposed decision rights.</a:t>
            </a:r>
          </a:p>
          <a:p xmlns:a="http://schemas.openxmlformats.org/drawingml/2006/main">
            <a:r>
              <a:t>- Internal feasibility dossier: data/trust-safety-gates.json - staged launch boundaries.</a:t>
            </a:r>
          </a:p>
          <a:p xmlns:a="http://schemas.openxmlformats.org/drawingml/2006/main">
            <a:r>
              <a:t>- Internal feasibility dossier: docs/DATA_FLYWHEEL.md - rights, provenance, representation, poisoning, withdrawal, and deletion.</a:t>
            </a:r>
          </a:p>
          <a:p xmlns:a="http://schemas.openxmlformats.org/drawingml/2006/main">
            <a:r>
              <a:t>- Internal feasibility dossier: docs/PERFORMANCE_AND_RESILIENCE_TEST_PLAN.md - workload, recovery, and failure drills.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staged program to set expectations: early investment proves authority and product value; later AI gates can narrow, pause, or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docs/MILESTONES.md and data/milestones.json - phases 0 through 6, exit evidence, owners, and funding decisions.</a:t>
            </a:r>
          </a:p>
          <a:p xmlns:a="http://schemas.openxmlformats.org/drawingml/2006/main">
            <a:r>
              <a:t>- Internal feasibility dossier: docs/BUILD_ORDER.md - promotion method and non-parallelizable dependencies.</a:t>
            </a:r>
          </a:p>
          <a:p xmlns:a="http://schemas.openxmlformats.org/drawingml/2006/main">
            <a:r>
              <a:t>- Internal feasibility dossier: docs/HANDOFF.md - first 30/60/90-day evidence objectives.</a:t>
            </a:r>
          </a:p>
          <a:p xmlns:a="http://schemas.openxmlformats.org/drawingml/2006/main">
            <a:r>
              <a:t>- No calendar or capital commitment is made on this slide; exact commercial structure requires owner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decision: authorize a bounded pilot and strategic working session. Do not negotiate terms from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feasibility dossier: docs/EXECUTIVE_DECISION.md - recommended proof-first funding posture.</a:t>
            </a:r>
          </a:p>
          <a:p xmlns:a="http://schemas.openxmlformats.org/drawingml/2006/main">
            <a:r>
              <a:t>- Internal feasibility dossier: docs/HANDOFF.md - evidence-recovery and pilot-definition sequence.</a:t>
            </a:r>
          </a:p>
          <a:p xmlns:a="http://schemas.openxmlformats.org/drawingml/2006/main">
            <a:r>
              <a:t>- https://saparsport.com/ - public SAPAR brand and product vision.</a:t>
            </a:r>
          </a:p>
          <a:p xmlns:a="http://schemas.openxmlformats.org/drawingml/2006/main">
            <a:r>
              <a:t>- Partner type, investment amount, economics, and legal terms remain owner-approved decisions and are intentionally not invented.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8042915ea49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c1f8c93eb7475a" /><Relationship Type="http://schemas.openxmlformats.org/officeDocument/2006/relationships/slideLayout" Target="/ppt/slideLayouts/slideLayout1.xml" Id="Re1b10b1836d843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10b1836d843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09c27143f4967" /><Relationship Type="http://schemas.openxmlformats.org/officeDocument/2006/relationships/image" Target="/ppt/media/image.png" Id="R1a720fba537b4177" /><Relationship Type="http://schemas.openxmlformats.org/officeDocument/2006/relationships/image" Target="/ppt/media/image.svg" Id="Rb7586f1afb6c4849" /><Relationship Type="http://schemas.openxmlformats.org/officeDocument/2006/relationships/image" Target="/ppt/media/image2.png" Id="R5ff9f4da6d8a49a6" /><Relationship Type="http://schemas.openxmlformats.org/officeDocument/2006/relationships/notesSlide" Target="/ppt/notesSlides/notesSlide1.xml" Id="Rda9af03209ea4d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20fc27ac3488a" /><Relationship Type="http://schemas.openxmlformats.org/officeDocument/2006/relationships/image" Target="/ppt/media/image3.png" Id="R92aae922befc4b0a" /><Relationship Type="http://schemas.openxmlformats.org/officeDocument/2006/relationships/image" Target="/ppt/media/image2.svg" Id="R6fa0dc0eed6e483d" /><Relationship Type="http://schemas.openxmlformats.org/officeDocument/2006/relationships/notesSlide" Target="/ppt/notesSlides/notesSlide2.xml" Id="R3c0ace411dc2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493dc787e4f7f" /><Relationship Type="http://schemas.openxmlformats.org/officeDocument/2006/relationships/image" Target="/ppt/media/image4.png" Id="R61befe2f4c3843b3" /><Relationship Type="http://schemas.openxmlformats.org/officeDocument/2006/relationships/image" Target="/ppt/media/image3.svg" Id="R3b36419d8e544976" /><Relationship Type="http://schemas.openxmlformats.org/officeDocument/2006/relationships/image" Target="/ppt/media/image5.png" Id="R198b388df6af418f" /><Relationship Type="http://schemas.openxmlformats.org/officeDocument/2006/relationships/image" Target="/ppt/media/image4.svg" Id="Rb0abff60b5184b39" /><Relationship Type="http://schemas.openxmlformats.org/officeDocument/2006/relationships/notesSlide" Target="/ppt/notesSlides/notesSlide3.xml" Id="R198f538d72664b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fb89f4cc54882" /><Relationship Type="http://schemas.openxmlformats.org/officeDocument/2006/relationships/image" Target="/ppt/media/image6.png" Id="Rf3f2092333024257" /><Relationship Type="http://schemas.openxmlformats.org/officeDocument/2006/relationships/image" Target="/ppt/media/image5.svg" Id="R7eb14ac3d30749b2" /><Relationship Type="http://schemas.openxmlformats.org/officeDocument/2006/relationships/image" Target="/ppt/media/image7.png" Id="Rdf1a4c2ea93b497d" /><Relationship Type="http://schemas.openxmlformats.org/officeDocument/2006/relationships/notesSlide" Target="/ppt/notesSlides/notesSlide4.xml" Id="Rf00e08dfc81c45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db22e6b5d4328" /><Relationship Type="http://schemas.openxmlformats.org/officeDocument/2006/relationships/image" Target="/ppt/media/image8.png" Id="R0d9112f831b346f2" /><Relationship Type="http://schemas.openxmlformats.org/officeDocument/2006/relationships/image" Target="/ppt/media/image6.svg" Id="R679ddec26c724be0" /><Relationship Type="http://schemas.openxmlformats.org/officeDocument/2006/relationships/notesSlide" Target="/ppt/notesSlides/notesSlide5.xml" Id="R915a57d517434b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7fab8ad554369" /><Relationship Type="http://schemas.openxmlformats.org/officeDocument/2006/relationships/image" Target="/ppt/media/image9.png" Id="Rc3f901c71d0b46d7" /><Relationship Type="http://schemas.openxmlformats.org/officeDocument/2006/relationships/image" Target="/ppt/media/image7.svg" Id="R1563bab0b1a04f13" /><Relationship Type="http://schemas.openxmlformats.org/officeDocument/2006/relationships/notesSlide" Target="/ppt/notesSlides/notesSlide6.xml" Id="R13150afb0ff6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5f45e58474f08" /><Relationship Type="http://schemas.openxmlformats.org/officeDocument/2006/relationships/image" Target="/ppt/media/image10.png" Id="Rc16559281c5a4f3b" /><Relationship Type="http://schemas.openxmlformats.org/officeDocument/2006/relationships/image" Target="/ppt/media/image8.svg" Id="Rbc751bda85924bb7" /><Relationship Type="http://schemas.openxmlformats.org/officeDocument/2006/relationships/notesSlide" Target="/ppt/notesSlides/notesSlide7.xml" Id="Ra7d97b04a2d349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d98df11b466d" /><Relationship Type="http://schemas.openxmlformats.org/officeDocument/2006/relationships/image" Target="/ppt/media/image11.png" Id="R2d2b86f8783e423c" /><Relationship Type="http://schemas.openxmlformats.org/officeDocument/2006/relationships/image" Target="/ppt/media/image9.svg" Id="R96ec25de2a594d47" /><Relationship Type="http://schemas.openxmlformats.org/officeDocument/2006/relationships/notesSlide" Target="/ppt/notesSlides/notesSlide8.xml" Id="R478104283d084f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07ed61371422d" /><Relationship Type="http://schemas.openxmlformats.org/officeDocument/2006/relationships/image" Target="/ppt/media/image12.png" Id="R1126677c43994016" /><Relationship Type="http://schemas.openxmlformats.org/officeDocument/2006/relationships/image" Target="/ppt/media/image10.svg" Id="R51901792ad0a4c3b" /><Relationship Type="http://schemas.openxmlformats.org/officeDocument/2006/relationships/image" Target="/ppt/media/image13.png" Id="Ra54ea4fb61ee41a8" /><Relationship Type="http://schemas.openxmlformats.org/officeDocument/2006/relationships/notesSlide" Target="/ppt/notesSlides/notesSlide9.xml" Id="R7081a20b6af540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89521fb3843e4" /><Relationship Type="http://schemas.openxmlformats.org/officeDocument/2006/relationships/image" Target="/ppt/media/image14.png" Id="R009f4e0ca1d24304" /><Relationship Type="http://schemas.openxmlformats.org/officeDocument/2006/relationships/image" Target="/ppt/media/image11.svg" Id="R79bfa8eebfae4a53" /><Relationship Type="http://schemas.openxmlformats.org/officeDocument/2006/relationships/notesSlide" Target="/ppt/notesSlides/notesSlide10.xml" Id="R8e0b1243dbdc4c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8c80306064398" /><Relationship Type="http://schemas.openxmlformats.org/officeDocument/2006/relationships/image" Target="/ppt/media/image15.png" Id="Rdc30b7e95b2e4763" /><Relationship Type="http://schemas.openxmlformats.org/officeDocument/2006/relationships/image" Target="/ppt/media/image12.svg" Id="Rd69bcd9c152445fb" /><Relationship Type="http://schemas.openxmlformats.org/officeDocument/2006/relationships/notesSlide" Target="/ppt/notesSlides/notesSlide11.xml" Id="R61f5e0dba2be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c9f802ff94b71" /><Relationship Type="http://schemas.openxmlformats.org/officeDocument/2006/relationships/image" Target="/ppt/media/image16.png" Id="R5d8ac76dd1c54444" /><Relationship Type="http://schemas.openxmlformats.org/officeDocument/2006/relationships/image" Target="/ppt/media/image13.svg" Id="R252076e77bff45a7" /><Relationship Type="http://schemas.openxmlformats.org/officeDocument/2006/relationships/notesSlide" Target="/ppt/notesSlides/notesSlide12.xml" Id="Rc51144ff39ca47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0b28cc1e64fcf" /><Relationship Type="http://schemas.openxmlformats.org/officeDocument/2006/relationships/image" Target="/ppt/media/image17.png" Id="R2a91591b970443ba" /><Relationship Type="http://schemas.openxmlformats.org/officeDocument/2006/relationships/image" Target="/ppt/media/image14.svg" Id="R404fad2c9a634388" /><Relationship Type="http://schemas.openxmlformats.org/officeDocument/2006/relationships/notesSlide" Target="/ppt/notesSlides/notesSlide13.xml" Id="R0440c551eaed49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6a042aa2643d6" /><Relationship Type="http://schemas.openxmlformats.org/officeDocument/2006/relationships/image" Target="/ppt/media/image18.png" Id="Rcd4606b4eaa841f0" /><Relationship Type="http://schemas.openxmlformats.org/officeDocument/2006/relationships/image" Target="/ppt/media/image15.svg" Id="R239a9223a8ef4357" /><Relationship Type="http://schemas.openxmlformats.org/officeDocument/2006/relationships/notesSlide" Target="/ppt/notesSlides/notesSlide14.xml" Id="Rb9e787fb832249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blue-rail">
            <a:extLst xmlns:a="http://schemas.openxmlformats.org/drawingml/2006/main">
              <a:ext uri="{FF2B5EF4-FFF2-40B4-BE49-F238E27FC236}">
                <a16:creationId xmlns:a16="http://schemas.microsoft.com/office/drawing/2014/main" id="{7889F16B-7DEA-46B9-9430-7379B8B2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1162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tage">
            <a:extLst xmlns:a="http://schemas.openxmlformats.org/drawingml/2006/main">
              <a:ext uri="{FF2B5EF4-FFF2-40B4-BE49-F238E27FC236}">
                <a16:creationId xmlns:a16="http://schemas.microsoft.com/office/drawing/2014/main" id="{BA3D6B7D-3DC6-454C-999B-A9CFE0BE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3790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glow">
            <a:extLst xmlns:a="http://schemas.openxmlformats.org/drawingml/2006/main">
              <a:ext uri="{FF2B5EF4-FFF2-40B4-BE49-F238E27FC236}">
                <a16:creationId xmlns:a16="http://schemas.microsoft.com/office/drawing/2014/main" id="{AD1CB47C-57E3-4422-A318-D2BD8E0A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95350"/>
            <a:ext cx="762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20fba537b4177">
            <a:extLst>
              <a:ext uri="{96DAC541-7B7A-43D3-8B79-37D633B846F1}">
                <asvg:svgBlip xmlns:asvg="http://schemas.microsoft.com/office/drawing/2016/SVG/main" r:embed="Rb7586f1afb6c48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67CA7847-233C-42C4-A8C4-85D28395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8FAFC"/>
                </a:solidFill>
              </a:defRPr>
            </a:pPr>
            <a:r>
              <a:rPr sz="225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CC5BB48-C45D-4C9F-A3B5-2A74DE5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78FF"/>
                </a:solidFill>
              </a:defRPr>
            </a:pPr>
            <a:r>
              <a:rPr sz="900" b="1" i="0">
                <a:solidFill>
                  <a:srgbClr val="3478FF"/>
                </a:solidFill>
              </a:rPr>
              <a:t>STRATEGIC PARTNER BRIEFING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563268-2036-4BFA-B301-992E1E5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8FAFC"/>
                </a:solidFill>
              </a:defRPr>
            </a:pPr>
            <a:r>
              <a:rPr sz="5100" b="1" i="0">
                <a:solidFill>
                  <a:srgbClr val="F8FAFC"/>
                </a:solidFill>
              </a:rPr>
              <a:t>TRAIN.</a:t>
            </a:r>
          </a:p>
          <a:p xmlns:a="http://schemas.openxmlformats.org/drawingml/2006/main">
            <a:pPr algn="l">
              <a:defRPr sz="5100" b="1" i="0">
                <a:solidFill>
                  <a:srgbClr val="F8FAFC"/>
                </a:solidFill>
              </a:defRPr>
            </a:pPr>
            <a:r>
              <a:rPr sz="5100" b="1" i="0">
                <a:solidFill>
                  <a:srgbClr val="F8FAFC"/>
                </a:solidFill>
              </a:rPr>
              <a:t>CONNECT.</a:t>
            </a:r>
          </a:p>
          <a:p xmlns:a="http://schemas.openxmlformats.org/drawingml/2006/main">
            <a:pPr algn="l">
              <a:defRPr sz="5100" b="1" i="0">
                <a:solidFill>
                  <a:srgbClr val="F8FAFC"/>
                </a:solidFill>
              </a:defRPr>
            </a:pPr>
            <a:r>
              <a:rPr sz="5100" b="1" i="0">
                <a:solidFill>
                  <a:srgbClr val="F8FAFC"/>
                </a:solidFill>
              </a:rPr>
              <a:t>COMPETE.</a:t>
            </a:r>
          </a:p>
        </p:txBody>
      </p:sp>
      <p:sp>
        <p:nvSpPr>
          <p:cNvPr id="8" name="cover-sub">
            <a:extLst xmlns:a="http://schemas.openxmlformats.org/drawingml/2006/main">
              <a:ext uri="{FF2B5EF4-FFF2-40B4-BE49-F238E27FC236}">
                <a16:creationId xmlns:a16="http://schemas.microsoft.com/office/drawing/2014/main" id="{D2F04AC0-68F0-42F3-8CB9-EFE8E456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AFBC"/>
                </a:solidFill>
              </a:defRPr>
            </a:pPr>
            <a:r>
              <a:rPr sz="2025" b="0" i="0">
                <a:solidFill>
                  <a:srgbClr val="A6AFBC"/>
                </a:solidFill>
              </a:rPr>
              <a:t>A connected Jiu-Jitsu platform with a proof-first path to intelligent competition.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EBFAF69B-6E2F-49D7-940F-69F1F265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076F45C1-B2F5-44AA-8221-1ADA3D4D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CORE PLATFORM: FEASIBLE</a:t>
            </a:r>
          </a:p>
          <a:p xmlns:a="http://schemas.openxmlformats.org/drawingml/2006/main">
            <a:pPr algn="l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BODY TRACKING: STAGED VALIDATION</a:t>
            </a:r>
          </a:p>
          <a:p xmlns:a="http://schemas.openxmlformats.org/drawingml/2006/main">
            <a:pPr algn="l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AUTONOMOUS SCORING: NOT AN EARLY PROMISE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9f4da6d8a49a6"/>
          <a:stretch xmlns:a="http://schemas.openxmlformats.org/drawingml/2006/main"/>
        </p:blipFill>
        <p:spPr>
          <a:xfrm xmlns:a="http://schemas.openxmlformats.org/drawingml/2006/main">
            <a:off x="6762750" y="680381"/>
            <a:ext cx="4714875" cy="55734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66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header-blue-2">
            <a:extLst xmlns:a="http://schemas.openxmlformats.org/drawingml/2006/main">
              <a:ext uri="{FF2B5EF4-FFF2-40B4-BE49-F238E27FC236}">
                <a16:creationId xmlns:a16="http://schemas.microsoft.com/office/drawing/2014/main" id="{731098F9-77C5-45B3-B0AE-5695FC6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2">
            <a:extLst xmlns:a="http://schemas.openxmlformats.org/drawingml/2006/main">
              <a:ext uri="{FF2B5EF4-FFF2-40B4-BE49-F238E27FC236}">
                <a16:creationId xmlns:a16="http://schemas.microsoft.com/office/drawing/2014/main" id="{DDA12FAB-25D7-41E5-95E8-D3AE525B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THE OPPORTUNITY</a:t>
            </a:r>
          </a:p>
        </p:txBody>
      </p:sp>
      <p:sp>
        <p:nvSpPr>
          <p:cNvPr id="3" name="header-title-2">
            <a:extLst xmlns:a="http://schemas.openxmlformats.org/drawingml/2006/main">
              <a:ext uri="{FF2B5EF4-FFF2-40B4-BE49-F238E27FC236}">
                <a16:creationId xmlns:a16="http://schemas.microsoft.com/office/drawing/2014/main" id="{CFBC407C-DF65-4821-9EC3-45243C2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Jiu-Jitsu still lives across disconnected systems</a:t>
            </a:r>
          </a:p>
        </p:txBody>
      </p:sp>
      <p:sp>
        <p:nvSpPr>
          <p:cNvPr id="4" name="header-subtitle-2">
            <a:extLst xmlns:a="http://schemas.openxmlformats.org/drawingml/2006/main">
              <a:ext uri="{FF2B5EF4-FFF2-40B4-BE49-F238E27FC236}">
                <a16:creationId xmlns:a16="http://schemas.microsoft.com/office/drawing/2014/main" id="{A41BA13E-C852-4039-B58F-14E59F1F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Training, identity, gyms, competition, media, and reputation rarely share one trusted record.</a:t>
            </a:r>
          </a:p>
        </p:txBody>
      </p:sp>
      <p:sp>
        <p:nvSpPr>
          <p:cNvPr id="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FC0EA69-64B9-4F11-A4E9-D4EDB73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ae922befc4b0a">
            <a:extLst>
              <a:ext uri="{96DAC541-7B7A-43D3-8B79-37D633B846F1}">
                <asvg:svgBlip xmlns:asvg="http://schemas.microsoft.com/office/drawing/2016/SVG/main" r:embed="R6fa0dc0eed6e48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DD9ED2ED-5347-440E-8C78-21AC1900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ACCBE9A7-08C7-4150-892D-F2C8AD1B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THE OPPORTUNITY</a:t>
            </a:r>
          </a:p>
        </p:txBody>
      </p:sp>
      <p:sp>
        <p:nvSpPr>
          <p:cNvPr id="9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0A9D1DC2-8F42-4E50-BEF9-C194830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02 / 14</a:t>
            </a:r>
          </a:p>
        </p:txBody>
      </p:sp>
      <p:sp>
        <p:nvSpPr>
          <p:cNvPr id="10" name="fragment-top-0">
            <a:extLst xmlns:a="http://schemas.openxmlformats.org/drawingml/2006/main">
              <a:ext uri="{FF2B5EF4-FFF2-40B4-BE49-F238E27FC236}">
                <a16:creationId xmlns:a16="http://schemas.microsoft.com/office/drawing/2014/main" id="{67DD7139-E48A-4F5A-9705-87DA0A1F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ragment-label-0">
            <a:extLst xmlns:a="http://schemas.openxmlformats.org/drawingml/2006/main">
              <a:ext uri="{FF2B5EF4-FFF2-40B4-BE49-F238E27FC236}">
                <a16:creationId xmlns:a16="http://schemas.microsoft.com/office/drawing/2014/main" id="{D9A68F7F-2C02-4796-AC51-4DB8001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8FAFC"/>
                </a:solidFill>
              </a:defRPr>
            </a:pPr>
            <a:r>
              <a:rPr sz="2175" b="1" i="0">
                <a:solidFill>
                  <a:srgbClr val="F8FAFC"/>
                </a:solidFill>
              </a:rPr>
              <a:t>TRAIN</a:t>
            </a:r>
          </a:p>
        </p:txBody>
      </p:sp>
      <p:sp>
        <p:nvSpPr>
          <p:cNvPr id="12" name="fragment-copy-0">
            <a:extLst xmlns:a="http://schemas.openxmlformats.org/drawingml/2006/main">
              <a:ext uri="{FF2B5EF4-FFF2-40B4-BE49-F238E27FC236}">
                <a16:creationId xmlns:a16="http://schemas.microsoft.com/office/drawing/2014/main" id="{2607CB55-FAD7-42A9-823E-A4542068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Partners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coaches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sessions</a:t>
            </a:r>
          </a:p>
        </p:txBody>
      </p:sp>
      <p:sp>
        <p:nvSpPr>
          <p:cNvPr id="13" name="fragment-break-0">
            <a:extLst xmlns:a="http://schemas.openxmlformats.org/drawingml/2006/main">
              <a:ext uri="{FF2B5EF4-FFF2-40B4-BE49-F238E27FC236}">
                <a16:creationId xmlns:a16="http://schemas.microsoft.com/office/drawing/2014/main" id="{BF761497-D569-4DA6-9FAD-2A80A639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55D"/>
                </a:solidFill>
              </a:defRPr>
            </a:pPr>
            <a:r>
              <a:rPr sz="1950" b="1" i="0">
                <a:solidFill>
                  <a:srgbClr val="FF455D"/>
                </a:solidFill>
              </a:rPr>
              <a:t>//</a:t>
            </a:r>
          </a:p>
        </p:txBody>
      </p:sp>
      <p:sp>
        <p:nvSpPr>
          <p:cNvPr id="14" name="fragment-top-1">
            <a:extLst xmlns:a="http://schemas.openxmlformats.org/drawingml/2006/main">
              <a:ext uri="{FF2B5EF4-FFF2-40B4-BE49-F238E27FC236}">
                <a16:creationId xmlns:a16="http://schemas.microsoft.com/office/drawing/2014/main" id="{560B893F-3B7A-4782-B653-C7F98AA1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57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ragment-label-1">
            <a:extLst xmlns:a="http://schemas.openxmlformats.org/drawingml/2006/main">
              <a:ext uri="{FF2B5EF4-FFF2-40B4-BE49-F238E27FC236}">
                <a16:creationId xmlns:a16="http://schemas.microsoft.com/office/drawing/2014/main" id="{B5D128FC-D8F3-47DE-8EB4-7FC5541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8FAFC"/>
                </a:solidFill>
              </a:defRPr>
            </a:pPr>
            <a:r>
              <a:rPr sz="2175" b="1" i="0">
                <a:solidFill>
                  <a:srgbClr val="F8FAFC"/>
                </a:solidFill>
              </a:rPr>
              <a:t>CONNECT</a:t>
            </a:r>
          </a:p>
        </p:txBody>
      </p:sp>
      <p:sp>
        <p:nvSpPr>
          <p:cNvPr id="16" name="fragment-copy-1">
            <a:extLst xmlns:a="http://schemas.openxmlformats.org/drawingml/2006/main">
              <a:ext uri="{FF2B5EF4-FFF2-40B4-BE49-F238E27FC236}">
                <a16:creationId xmlns:a16="http://schemas.microsoft.com/office/drawing/2014/main" id="{CC8435C0-45C0-4619-B629-E65DEAD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Profiles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media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community</a:t>
            </a:r>
          </a:p>
        </p:txBody>
      </p:sp>
      <p:sp>
        <p:nvSpPr>
          <p:cNvPr id="17" name="fragment-break-1">
            <a:extLst xmlns:a="http://schemas.openxmlformats.org/drawingml/2006/main">
              <a:ext uri="{FF2B5EF4-FFF2-40B4-BE49-F238E27FC236}">
                <a16:creationId xmlns:a16="http://schemas.microsoft.com/office/drawing/2014/main" id="{EA7EB744-D54D-4574-8BB7-1DE2FE4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55D"/>
                </a:solidFill>
              </a:defRPr>
            </a:pPr>
            <a:r>
              <a:rPr sz="1950" b="1" i="0">
                <a:solidFill>
                  <a:srgbClr val="FF455D"/>
                </a:solidFill>
              </a:rPr>
              <a:t>//</a:t>
            </a:r>
          </a:p>
        </p:txBody>
      </p:sp>
      <p:sp>
        <p:nvSpPr>
          <p:cNvPr id="18" name="fragment-top-2">
            <a:extLst xmlns:a="http://schemas.openxmlformats.org/drawingml/2006/main">
              <a:ext uri="{FF2B5EF4-FFF2-40B4-BE49-F238E27FC236}">
                <a16:creationId xmlns:a16="http://schemas.microsoft.com/office/drawing/2014/main" id="{62F38B7D-71D0-4D04-9004-A6723D7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57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ragment-label-2">
            <a:extLst xmlns:a="http://schemas.openxmlformats.org/drawingml/2006/main">
              <a:ext uri="{FF2B5EF4-FFF2-40B4-BE49-F238E27FC236}">
                <a16:creationId xmlns:a16="http://schemas.microsoft.com/office/drawing/2014/main" id="{80CCBDC5-2C89-4EB8-A8C8-A587F241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478FF"/>
                </a:solidFill>
              </a:defRPr>
            </a:pPr>
            <a:r>
              <a:rPr sz="2175" b="1" i="0">
                <a:solidFill>
                  <a:srgbClr val="3478FF"/>
                </a:solidFill>
              </a:rPr>
              <a:t>COMPETE</a:t>
            </a:r>
          </a:p>
        </p:txBody>
      </p:sp>
      <p:sp>
        <p:nvSpPr>
          <p:cNvPr id="20" name="fragment-copy-2">
            <a:extLst xmlns:a="http://schemas.openxmlformats.org/drawingml/2006/main">
              <a:ext uri="{FF2B5EF4-FFF2-40B4-BE49-F238E27FC236}">
                <a16:creationId xmlns:a16="http://schemas.microsoft.com/office/drawing/2014/main" id="{9EC4E597-0EBE-4DD4-AA2C-514BC63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147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Events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rules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results</a:t>
            </a:r>
          </a:p>
        </p:txBody>
      </p:sp>
      <p:sp>
        <p:nvSpPr>
          <p:cNvPr id="21" name="fragment-break-2">
            <a:extLst xmlns:a="http://schemas.openxmlformats.org/drawingml/2006/main">
              <a:ext uri="{FF2B5EF4-FFF2-40B4-BE49-F238E27FC236}">
                <a16:creationId xmlns:a16="http://schemas.microsoft.com/office/drawing/2014/main" id="{F3C1628E-C24D-469B-BF51-EFC7ED6C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55D"/>
                </a:solidFill>
              </a:defRPr>
            </a:pPr>
            <a:r>
              <a:rPr sz="1950" b="1" i="0">
                <a:solidFill>
                  <a:srgbClr val="FF455D"/>
                </a:solidFill>
              </a:rPr>
              <a:t>//</a:t>
            </a:r>
          </a:p>
        </p:txBody>
      </p:sp>
      <p:sp>
        <p:nvSpPr>
          <p:cNvPr id="22" name="fragment-top-3">
            <a:extLst xmlns:a="http://schemas.openxmlformats.org/drawingml/2006/main">
              <a:ext uri="{FF2B5EF4-FFF2-40B4-BE49-F238E27FC236}">
                <a16:creationId xmlns:a16="http://schemas.microsoft.com/office/drawing/2014/main" id="{335B4857-0084-41D2-B91A-14E33C7D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ragment-label-3">
            <a:extLst xmlns:a="http://schemas.openxmlformats.org/drawingml/2006/main">
              <a:ext uri="{FF2B5EF4-FFF2-40B4-BE49-F238E27FC236}">
                <a16:creationId xmlns:a16="http://schemas.microsoft.com/office/drawing/2014/main" id="{6F37A53C-70F3-400D-8373-AE0D1EE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8FAFC"/>
                </a:solidFill>
              </a:defRPr>
            </a:pPr>
            <a:r>
              <a:rPr sz="2175" b="1" i="0">
                <a:solidFill>
                  <a:srgbClr val="F8FAFC"/>
                </a:solidFill>
              </a:rPr>
              <a:t>PROVE</a:t>
            </a:r>
          </a:p>
        </p:txBody>
      </p:sp>
      <p:sp>
        <p:nvSpPr>
          <p:cNvPr id="24" name="fragment-copy-3">
            <a:extLst xmlns:a="http://schemas.openxmlformats.org/drawingml/2006/main">
              <a:ext uri="{FF2B5EF4-FFF2-40B4-BE49-F238E27FC236}">
                <a16:creationId xmlns:a16="http://schemas.microsoft.com/office/drawing/2014/main" id="{E33715F7-B2DF-4525-8612-8664F7C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Ratings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record</a:t>
            </a:r>
          </a:p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progress</a:t>
            </a:r>
          </a:p>
        </p:txBody>
      </p:sp>
      <p:sp>
        <p:nvSpPr>
          <p:cNvPr id="25" name="fragment-consequence">
            <a:extLst xmlns:a="http://schemas.openxmlformats.org/drawingml/2006/main">
              <a:ext uri="{FF2B5EF4-FFF2-40B4-BE49-F238E27FC236}">
                <a16:creationId xmlns:a16="http://schemas.microsoft.com/office/drawing/2014/main" id="{ED5A2A19-D5E2-423B-B845-6842F53A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829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ragment-consequence-key">
            <a:extLst xmlns:a="http://schemas.openxmlformats.org/drawingml/2006/main">
              <a:ext uri="{FF2B5EF4-FFF2-40B4-BE49-F238E27FC236}">
                <a16:creationId xmlns:a16="http://schemas.microsoft.com/office/drawing/2014/main" id="{B0EF7ED5-21DA-4D5D-BEFE-C29C2E06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THE COST OF FRAGMENTATION</a:t>
            </a:r>
          </a:p>
        </p:txBody>
      </p:sp>
      <p:sp>
        <p:nvSpPr>
          <p:cNvPr id="27" name="fragment-consequence-copy">
            <a:extLst xmlns:a="http://schemas.openxmlformats.org/drawingml/2006/main">
              <a:ext uri="{FF2B5EF4-FFF2-40B4-BE49-F238E27FC236}">
                <a16:creationId xmlns:a16="http://schemas.microsoft.com/office/drawing/2014/main" id="{206F6F6B-CFA0-4F52-B995-0D0D4927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24450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Every disconnected workflow loses context, trust, and the evidence needed to improve the sport.</a:t>
            </a:r>
          </a:p>
        </p:txBody>
      </p:sp>
    </p:spTree>
    <p:extLst>
      <p:ext uri="{BB962C8B-B14F-4D97-AF65-F5344CB8AC3E}">
        <p14:creationId xmlns:p14="http://schemas.microsoft.com/office/powerpoint/2010/main" val="1199826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lue-3">
            <a:extLst xmlns:a="http://schemas.openxmlformats.org/drawingml/2006/main">
              <a:ext uri="{FF2B5EF4-FFF2-40B4-BE49-F238E27FC236}">
                <a16:creationId xmlns:a16="http://schemas.microsoft.com/office/drawing/2014/main" id="{C9C3ED54-311F-4BE3-941C-9B7C5EA1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3">
            <a:extLst xmlns:a="http://schemas.openxmlformats.org/drawingml/2006/main">
              <a:ext uri="{FF2B5EF4-FFF2-40B4-BE49-F238E27FC236}">
                <a16:creationId xmlns:a16="http://schemas.microsoft.com/office/drawing/2014/main" id="{81981630-72E1-4B65-81DD-CCC87834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SAPAR ECOSYSTEM</a:t>
            </a:r>
          </a:p>
        </p:txBody>
      </p:sp>
      <p:sp>
        <p:nvSpPr>
          <p:cNvPr id="3" name="header-title-3">
            <a:extLst xmlns:a="http://schemas.openxmlformats.org/drawingml/2006/main">
              <a:ext uri="{FF2B5EF4-FFF2-40B4-BE49-F238E27FC236}">
                <a16:creationId xmlns:a16="http://schemas.microsoft.com/office/drawing/2014/main" id="{DF5B4E9E-A712-4101-89FB-28485FAD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One network can make every interaction compound</a:t>
            </a:r>
          </a:p>
        </p:txBody>
      </p:sp>
      <p:sp>
        <p:nvSpPr>
          <p:cNvPr id="4" name="header-subtitle-3">
            <a:extLst xmlns:a="http://schemas.openxmlformats.org/drawingml/2006/main">
              <a:ext uri="{FF2B5EF4-FFF2-40B4-BE49-F238E27FC236}">
                <a16:creationId xmlns:a16="http://schemas.microsoft.com/office/drawing/2014/main" id="{4721ED56-84B2-4BC6-9836-74A92D8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A shared identity, event, result, and media layer connects the people and places that already make the sport work.</a:t>
            </a:r>
          </a:p>
        </p:txBody>
      </p:sp>
      <p:sp>
        <p:nvSpPr>
          <p:cNvPr id="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A715CCB-8A40-402F-927B-87EC0FDB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efe2f4c3843b3">
            <a:extLst>
              <a:ext uri="{96DAC541-7B7A-43D3-8B79-37D633B846F1}">
                <asvg:svgBlip xmlns:asvg="http://schemas.microsoft.com/office/drawing/2016/SVG/main" r:embed="R3b36419d8e5449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8D53B7D7-FA8F-4FF3-B8DB-58FC46FA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AF1F078E-0E9E-4C8C-8EFC-C10FE874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SAPAR ECOSYSTEM</a:t>
            </a:r>
          </a:p>
        </p:txBody>
      </p:sp>
      <p:sp>
        <p:nvSpPr>
          <p:cNvPr id="9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326E97D-FFED-4A35-AA94-683DC2AE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03 / 14</a:t>
            </a:r>
          </a:p>
        </p:txBody>
      </p:sp>
      <p:sp>
        <p:nvSpPr>
          <p:cNvPr id="10" name="eco-line-left">
            <a:extLst xmlns:a="http://schemas.openxmlformats.org/drawingml/2006/main">
              <a:ext uri="{FF2B5EF4-FFF2-40B4-BE49-F238E27FC236}">
                <a16:creationId xmlns:a16="http://schemas.microsoft.com/office/drawing/2014/main" id="{E6789A6A-FD8F-45AB-909C-97564934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5760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co-line-right">
            <a:extLst xmlns:a="http://schemas.openxmlformats.org/drawingml/2006/main">
              <a:ext uri="{FF2B5EF4-FFF2-40B4-BE49-F238E27FC236}">
                <a16:creationId xmlns:a16="http://schemas.microsoft.com/office/drawing/2014/main" id="{F4291C7A-5A96-4FCD-A0FE-145D407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co-line-top">
            <a:extLst xmlns:a="http://schemas.openxmlformats.org/drawingml/2006/main">
              <a:ext uri="{FF2B5EF4-FFF2-40B4-BE49-F238E27FC236}">
                <a16:creationId xmlns:a16="http://schemas.microsoft.com/office/drawing/2014/main" id="{C950104B-FF01-41B3-BB70-41987A19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co-line-bottom">
            <a:extLst xmlns:a="http://schemas.openxmlformats.org/drawingml/2006/main">
              <a:ext uri="{FF2B5EF4-FFF2-40B4-BE49-F238E27FC236}">
                <a16:creationId xmlns:a16="http://schemas.microsoft.com/office/drawing/2014/main" id="{6A55E452-CEC5-4148-B107-820867A6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6240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co-center-ring">
            <a:extLst xmlns:a="http://schemas.openxmlformats.org/drawingml/2006/main">
              <a:ext uri="{FF2B5EF4-FFF2-40B4-BE49-F238E27FC236}">
                <a16:creationId xmlns:a16="http://schemas.microsoft.com/office/drawing/2014/main" id="{9FE00265-4FCA-4252-A878-52C59097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860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78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b388df6af418f">
            <a:extLst>
              <a:ext uri="{96DAC541-7B7A-43D3-8B79-37D633B846F1}">
                <asvg:svgBlip xmlns:asvg="http://schemas.microsoft.com/office/drawing/2016/SVG/main" r:embed="Rb0abff60b5184b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05475" y="317182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6" name="eco-center">
            <a:extLst xmlns:a="http://schemas.openxmlformats.org/drawingml/2006/main">
              <a:ext uri="{FF2B5EF4-FFF2-40B4-BE49-F238E27FC236}">
                <a16:creationId xmlns:a16="http://schemas.microsoft.com/office/drawing/2014/main" id="{95A43D5B-3AD8-44C7-BEF7-0E2233B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195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ONE TRUSTED</a:t>
            </a:r>
          </a:p>
          <a:p xmlns:a="http://schemas.openxmlformats.org/drawingml/2006/main">
            <a:pPr algn="ctr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SPORTS GRAPH</a:t>
            </a:r>
          </a:p>
        </p:txBody>
      </p:sp>
      <p:sp>
        <p:nvSpPr>
          <p:cNvPr id="17" name="eco-node-0">
            <a:extLst xmlns:a="http://schemas.openxmlformats.org/drawingml/2006/main">
              <a:ext uri="{FF2B5EF4-FFF2-40B4-BE49-F238E27FC236}">
                <a16:creationId xmlns:a16="http://schemas.microsoft.com/office/drawing/2014/main" id="{56F062F9-960A-445F-91EE-C40CEA28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362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18" name="eco-node-label-0">
            <a:extLst xmlns:a="http://schemas.openxmlformats.org/drawingml/2006/main">
              <a:ext uri="{FF2B5EF4-FFF2-40B4-BE49-F238E27FC236}">
                <a16:creationId xmlns:a16="http://schemas.microsoft.com/office/drawing/2014/main" id="{17910760-A512-4483-BD49-30F90D84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FIGHTERS</a:t>
            </a:r>
          </a:p>
        </p:txBody>
      </p:sp>
      <p:sp>
        <p:nvSpPr>
          <p:cNvPr id="19" name="eco-node-detail-0">
            <a:extLst xmlns:a="http://schemas.openxmlformats.org/drawingml/2006/main">
              <a:ext uri="{FF2B5EF4-FFF2-40B4-BE49-F238E27FC236}">
                <a16:creationId xmlns:a16="http://schemas.microsoft.com/office/drawing/2014/main" id="{D55D9F78-A3E1-481F-BF3A-FE088DBA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identity / progress / media</a:t>
            </a:r>
          </a:p>
        </p:txBody>
      </p:sp>
      <p:sp>
        <p:nvSpPr>
          <p:cNvPr id="20" name="eco-node-1">
            <a:extLst xmlns:a="http://schemas.openxmlformats.org/drawingml/2006/main">
              <a:ext uri="{FF2B5EF4-FFF2-40B4-BE49-F238E27FC236}">
                <a16:creationId xmlns:a16="http://schemas.microsoft.com/office/drawing/2014/main" id="{16734678-2585-445E-992F-A36F362C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362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1" name="eco-node-label-1">
            <a:extLst xmlns:a="http://schemas.openxmlformats.org/drawingml/2006/main">
              <a:ext uri="{FF2B5EF4-FFF2-40B4-BE49-F238E27FC236}">
                <a16:creationId xmlns:a16="http://schemas.microsoft.com/office/drawing/2014/main" id="{BF270D4A-526F-4455-8DF7-11783662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GYMS</a:t>
            </a:r>
          </a:p>
        </p:txBody>
      </p:sp>
      <p:sp>
        <p:nvSpPr>
          <p:cNvPr id="22" name="eco-node-detail-1">
            <a:extLst xmlns:a="http://schemas.openxmlformats.org/drawingml/2006/main">
              <a:ext uri="{FF2B5EF4-FFF2-40B4-BE49-F238E27FC236}">
                <a16:creationId xmlns:a16="http://schemas.microsoft.com/office/drawing/2014/main" id="{47BF5043-2849-4802-8A65-64EAC11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sessions / hosting / community</a:t>
            </a:r>
          </a:p>
        </p:txBody>
      </p:sp>
      <p:sp>
        <p:nvSpPr>
          <p:cNvPr id="23" name="eco-node-2">
            <a:extLst xmlns:a="http://schemas.openxmlformats.org/drawingml/2006/main">
              <a:ext uri="{FF2B5EF4-FFF2-40B4-BE49-F238E27FC236}">
                <a16:creationId xmlns:a16="http://schemas.microsoft.com/office/drawing/2014/main" id="{476F2D61-31C9-4C3F-B5C9-BA986927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4" name="eco-node-label-2">
            <a:extLst xmlns:a="http://schemas.openxmlformats.org/drawingml/2006/main">
              <a:ext uri="{FF2B5EF4-FFF2-40B4-BE49-F238E27FC236}">
                <a16:creationId xmlns:a16="http://schemas.microsoft.com/office/drawing/2014/main" id="{BDCD3EC4-BA93-416B-8814-A570DCE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EVENTS + OFFICIALS</a:t>
            </a:r>
          </a:p>
        </p:txBody>
      </p:sp>
      <p:sp>
        <p:nvSpPr>
          <p:cNvPr id="25" name="eco-node-detail-2">
            <a:extLst xmlns:a="http://schemas.openxmlformats.org/drawingml/2006/main">
              <a:ext uri="{FF2B5EF4-FFF2-40B4-BE49-F238E27FC236}">
                <a16:creationId xmlns:a16="http://schemas.microsoft.com/office/drawing/2014/main" id="{D498D987-F59C-4679-A4E9-48CE96E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rules / results / corrections</a:t>
            </a:r>
          </a:p>
        </p:txBody>
      </p:sp>
      <p:sp>
        <p:nvSpPr>
          <p:cNvPr id="26" name="eco-node-3">
            <a:extLst xmlns:a="http://schemas.openxmlformats.org/drawingml/2006/main">
              <a:ext uri="{FF2B5EF4-FFF2-40B4-BE49-F238E27FC236}">
                <a16:creationId xmlns:a16="http://schemas.microsoft.com/office/drawing/2014/main" id="{BAA2365C-B684-432D-998F-577264D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7" name="eco-node-label-3">
            <a:extLst xmlns:a="http://schemas.openxmlformats.org/drawingml/2006/main">
              <a:ext uri="{FF2B5EF4-FFF2-40B4-BE49-F238E27FC236}">
                <a16:creationId xmlns:a16="http://schemas.microsoft.com/office/drawing/2014/main" id="{82369501-6128-42B8-985D-1919086F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244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COACHES + PARTNERS</a:t>
            </a:r>
          </a:p>
        </p:txBody>
      </p:sp>
      <p:sp>
        <p:nvSpPr>
          <p:cNvPr id="28" name="eco-node-detail-3">
            <a:extLst xmlns:a="http://schemas.openxmlformats.org/drawingml/2006/main">
              <a:ext uri="{FF2B5EF4-FFF2-40B4-BE49-F238E27FC236}">
                <a16:creationId xmlns:a16="http://schemas.microsoft.com/office/drawing/2014/main" id="{CB53326D-97FE-41A6-8BF0-5DB699A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245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instruction / discovery / growth</a:t>
            </a:r>
          </a:p>
        </p:txBody>
      </p:sp>
      <p:sp>
        <p:nvSpPr>
          <p:cNvPr id="29" name="eco-takeaway">
            <a:extLst xmlns:a="http://schemas.openxmlformats.org/drawingml/2006/main">
              <a:ext uri="{FF2B5EF4-FFF2-40B4-BE49-F238E27FC236}">
                <a16:creationId xmlns:a16="http://schemas.microsoft.com/office/drawing/2014/main" id="{AB4E5F8D-FC98-4C71-A8A6-4718EE6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72150"/>
            <a:ext cx="681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478FF"/>
                </a:solidFill>
              </a:defRPr>
            </a:pPr>
            <a:r>
              <a:rPr sz="1875" b="1" i="0">
                <a:solidFill>
                  <a:srgbClr val="3478FF"/>
                </a:solidFill>
              </a:rPr>
              <a:t>The network grows useful before advanced AI arrives.</a:t>
            </a:r>
          </a:p>
        </p:txBody>
      </p:sp>
    </p:spTree>
    <p:extLst>
      <p:ext uri="{BB962C8B-B14F-4D97-AF65-F5344CB8AC3E}">
        <p14:creationId xmlns:p14="http://schemas.microsoft.com/office/powerpoint/2010/main" val="1019876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header-blue-4">
            <a:extLst xmlns:a="http://schemas.openxmlformats.org/drawingml/2006/main">
              <a:ext uri="{FF2B5EF4-FFF2-40B4-BE49-F238E27FC236}">
                <a16:creationId xmlns:a16="http://schemas.microsoft.com/office/drawing/2014/main" id="{53FBE166-BD85-4189-A408-9CEE2D5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4">
            <a:extLst xmlns:a="http://schemas.openxmlformats.org/drawingml/2006/main">
              <a:ext uri="{FF2B5EF4-FFF2-40B4-BE49-F238E27FC236}">
                <a16:creationId xmlns:a16="http://schemas.microsoft.com/office/drawing/2014/main" id="{C89F1429-3072-4A44-A89F-CCF9555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FIGHTER EXPERIENCE</a:t>
            </a:r>
          </a:p>
        </p:txBody>
      </p:sp>
      <p:sp>
        <p:nvSpPr>
          <p:cNvPr id="3" name="header-title-4">
            <a:extLst xmlns:a="http://schemas.openxmlformats.org/drawingml/2006/main">
              <a:ext uri="{FF2B5EF4-FFF2-40B4-BE49-F238E27FC236}">
                <a16:creationId xmlns:a16="http://schemas.microsoft.com/office/drawing/2014/main" id="{CDBB4CCC-34FF-4BD1-B257-2DDCC311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For fighters, SAPAR turns mat time into momentum</a:t>
            </a:r>
          </a:p>
        </p:txBody>
      </p:sp>
      <p:sp>
        <p:nvSpPr>
          <p:cNvPr id="4" name="header-subtitle-4">
            <a:extLst xmlns:a="http://schemas.openxmlformats.org/drawingml/2006/main">
              <a:ext uri="{FF2B5EF4-FFF2-40B4-BE49-F238E27FC236}">
                <a16:creationId xmlns:a16="http://schemas.microsoft.com/office/drawing/2014/main" id="{DD72F4DA-FB2C-46CC-B2E5-010AEE38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Find the right session, build a credible record, share the journey, and understand progress in one place.</a:t>
            </a:r>
          </a:p>
        </p:txBody>
      </p:sp>
      <p:sp>
        <p:nvSpPr>
          <p:cNvPr id="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7046CB8-1779-4D04-85AB-EDD4ED48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2092333024257">
            <a:extLst>
              <a:ext uri="{96DAC541-7B7A-43D3-8B79-37D633B846F1}">
                <asvg:svgBlip xmlns:asvg="http://schemas.microsoft.com/office/drawing/2016/SVG/main" r:embed="R7eb14ac3d30749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C6DF8503-E735-4EDA-939A-1D04733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53E6D042-A689-4719-8922-C883C430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FIGHTER EXPERIENCE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D8756C0-CB6B-4587-B741-5FDA6B6D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04 / 14</a:t>
            </a:r>
          </a:p>
        </p:txBody>
      </p:sp>
      <p:sp>
        <p:nvSpPr>
          <p:cNvPr id="10" name="fighter-blue-frame">
            <a:extLst xmlns:a="http://schemas.openxmlformats.org/drawingml/2006/main">
              <a:ext uri="{FF2B5EF4-FFF2-40B4-BE49-F238E27FC236}">
                <a16:creationId xmlns:a16="http://schemas.microsoft.com/office/drawing/2014/main" id="{F8B2B422-CD7D-400E-B50A-48EB8ACE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40957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ghter-black-frame">
            <a:extLst xmlns:a="http://schemas.openxmlformats.org/drawingml/2006/main">
              <a:ext uri="{FF2B5EF4-FFF2-40B4-BE49-F238E27FC236}">
                <a16:creationId xmlns:a16="http://schemas.microsoft.com/office/drawing/2014/main" id="{27A623B1-0B65-4623-87A2-24FCC76A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86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a4c2ea93b497d"/>
          <a:stretch xmlns:a="http://schemas.openxmlformats.org/drawingml/2006/main"/>
        </p:blipFill>
        <p:spPr>
          <a:xfrm xmlns:a="http://schemas.openxmlformats.org/drawingml/2006/main">
            <a:off x="1544907" y="2114550"/>
            <a:ext cx="2206085" cy="4038600"/>
          </a:xfrm>
          <a:prstGeom xmlns:a="http://schemas.openxmlformats.org/drawingml/2006/main" prst="rect">
            <a:avLst/>
          </a:prstGeom>
        </p:spPr>
      </p:pic>
      <p:sp>
        <p:nvSpPr>
          <p:cNvPr id="13" name="fighter-n-0-disc">
            <a:extLst xmlns:a="http://schemas.openxmlformats.org/drawingml/2006/main">
              <a:ext uri="{FF2B5EF4-FFF2-40B4-BE49-F238E27FC236}">
                <a16:creationId xmlns:a16="http://schemas.microsoft.com/office/drawing/2014/main" id="{BE231FC4-DEEA-4D1F-8729-1265492A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ghter-n-0-value">
            <a:extLst xmlns:a="http://schemas.openxmlformats.org/drawingml/2006/main">
              <a:ext uri="{FF2B5EF4-FFF2-40B4-BE49-F238E27FC236}">
                <a16:creationId xmlns:a16="http://schemas.microsoft.com/office/drawing/2014/main" id="{01BCC4DD-96A4-468B-BF9B-0DA32E5D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479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01</a:t>
            </a:r>
          </a:p>
        </p:txBody>
      </p:sp>
      <p:sp>
        <p:nvSpPr>
          <p:cNvPr id="15" name="fighter-label-0">
            <a:extLst xmlns:a="http://schemas.openxmlformats.org/drawingml/2006/main">
              <a:ext uri="{FF2B5EF4-FFF2-40B4-BE49-F238E27FC236}">
                <a16:creationId xmlns:a16="http://schemas.microsoft.com/office/drawing/2014/main" id="{F49A92E1-BFEA-4686-BD46-75BAD3E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907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8FAFC"/>
                </a:solidFill>
              </a:defRPr>
            </a:pPr>
            <a:r>
              <a:rPr sz="1950" b="1" i="0">
                <a:solidFill>
                  <a:srgbClr val="F8FAFC"/>
                </a:solidFill>
              </a:rPr>
              <a:t>DISCOVER</a:t>
            </a:r>
          </a:p>
        </p:txBody>
      </p:sp>
      <p:sp>
        <p:nvSpPr>
          <p:cNvPr id="16" name="fighter-copy-0">
            <a:extLst xmlns:a="http://schemas.openxmlformats.org/drawingml/2006/main">
              <a:ext uri="{FF2B5EF4-FFF2-40B4-BE49-F238E27FC236}">
                <a16:creationId xmlns:a16="http://schemas.microsoft.com/office/drawing/2014/main" id="{AB666F01-74CF-46A3-AE36-1D7B6881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908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6AFBC"/>
                </a:solidFill>
              </a:defRPr>
            </a:pPr>
            <a:r>
              <a:rPr sz="1425" b="0" i="0">
                <a:solidFill>
                  <a:srgbClr val="A6AFBC"/>
                </a:solidFill>
              </a:rPr>
              <a:t>People, gyms, sessions, and opportunities to roll.</a:t>
            </a:r>
          </a:p>
        </p:txBody>
      </p:sp>
      <p:sp>
        <p:nvSpPr>
          <p:cNvPr id="17" name="fighter-rule-0">
            <a:extLst xmlns:a="http://schemas.openxmlformats.org/drawingml/2006/main">
              <a:ext uri="{FF2B5EF4-FFF2-40B4-BE49-F238E27FC236}">
                <a16:creationId xmlns:a16="http://schemas.microsoft.com/office/drawing/2014/main" id="{515A91B7-A940-4129-A269-E789BEF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ghter-n-1-disc">
            <a:extLst xmlns:a="http://schemas.openxmlformats.org/drawingml/2006/main">
              <a:ext uri="{FF2B5EF4-FFF2-40B4-BE49-F238E27FC236}">
                <a16:creationId xmlns:a16="http://schemas.microsoft.com/office/drawing/2014/main" id="{D0A33A51-5634-451A-AAB5-15412BE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24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ghter-n-1-value">
            <a:extLst xmlns:a="http://schemas.openxmlformats.org/drawingml/2006/main">
              <a:ext uri="{FF2B5EF4-FFF2-40B4-BE49-F238E27FC236}">
                <a16:creationId xmlns:a16="http://schemas.microsoft.com/office/drawing/2014/main" id="{AE787F6A-9E6F-445D-B906-327919E8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909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02</a:t>
            </a:r>
          </a:p>
        </p:txBody>
      </p:sp>
      <p:sp>
        <p:nvSpPr>
          <p:cNvPr id="20" name="fighter-label-1">
            <a:extLst xmlns:a="http://schemas.openxmlformats.org/drawingml/2006/main">
              <a:ext uri="{FF2B5EF4-FFF2-40B4-BE49-F238E27FC236}">
                <a16:creationId xmlns:a16="http://schemas.microsoft.com/office/drawing/2014/main" id="{AF6E26EE-1283-4D42-A6A4-1669F6C4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337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478FF"/>
                </a:solidFill>
              </a:defRPr>
            </a:pPr>
            <a:r>
              <a:rPr sz="1950" b="1" i="0">
                <a:solidFill>
                  <a:srgbClr val="3478FF"/>
                </a:solidFill>
              </a:rPr>
              <a:t>PROVE</a:t>
            </a:r>
          </a:p>
        </p:txBody>
      </p:sp>
      <p:sp>
        <p:nvSpPr>
          <p:cNvPr id="21" name="fighter-copy-1">
            <a:extLst xmlns:a="http://schemas.openxmlformats.org/drawingml/2006/main">
              <a:ext uri="{FF2B5EF4-FFF2-40B4-BE49-F238E27FC236}">
                <a16:creationId xmlns:a16="http://schemas.microsoft.com/office/drawing/2014/main" id="{78598AE1-8266-4741-B6BA-3398ED62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338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6AFBC"/>
                </a:solidFill>
              </a:defRPr>
            </a:pPr>
            <a:r>
              <a:rPr sz="1425" b="0" i="0">
                <a:solidFill>
                  <a:srgbClr val="A6AFBC"/>
                </a:solidFill>
              </a:rPr>
              <a:t>Verified results and explainable ratings, distinct from XP.</a:t>
            </a:r>
          </a:p>
        </p:txBody>
      </p:sp>
      <p:sp>
        <p:nvSpPr>
          <p:cNvPr id="22" name="fighter-rule-1">
            <a:extLst xmlns:a="http://schemas.openxmlformats.org/drawingml/2006/main">
              <a:ext uri="{FF2B5EF4-FFF2-40B4-BE49-F238E27FC236}">
                <a16:creationId xmlns:a16="http://schemas.microsoft.com/office/drawing/2014/main" id="{7D3AFA13-0078-4801-925E-C01F248C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1485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ighter-n-2-disc">
            <a:extLst xmlns:a="http://schemas.openxmlformats.org/drawingml/2006/main">
              <a:ext uri="{FF2B5EF4-FFF2-40B4-BE49-F238E27FC236}">
                <a16:creationId xmlns:a16="http://schemas.microsoft.com/office/drawing/2014/main" id="{555FBE5C-64CA-4E5D-879A-8549DAC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ghter-n-2-value">
            <a:extLst xmlns:a="http://schemas.openxmlformats.org/drawingml/2006/main">
              <a:ext uri="{FF2B5EF4-FFF2-40B4-BE49-F238E27FC236}">
                <a16:creationId xmlns:a16="http://schemas.microsoft.com/office/drawing/2014/main" id="{2473D7CE-C23D-481D-8FF3-9119ACA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339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03</a:t>
            </a:r>
          </a:p>
        </p:txBody>
      </p:sp>
      <p:sp>
        <p:nvSpPr>
          <p:cNvPr id="25" name="fighter-label-2">
            <a:extLst xmlns:a="http://schemas.openxmlformats.org/drawingml/2006/main">
              <a:ext uri="{FF2B5EF4-FFF2-40B4-BE49-F238E27FC236}">
                <a16:creationId xmlns:a16="http://schemas.microsoft.com/office/drawing/2014/main" id="{3AF0838E-FA69-4364-9A79-28E10EA0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8FAFC"/>
                </a:solidFill>
              </a:defRPr>
            </a:pPr>
            <a:r>
              <a:rPr sz="1950" b="1" i="0">
                <a:solidFill>
                  <a:srgbClr val="F8FAFC"/>
                </a:solidFill>
              </a:rPr>
              <a:t>BELONG</a:t>
            </a:r>
          </a:p>
        </p:txBody>
      </p:sp>
      <p:sp>
        <p:nvSpPr>
          <p:cNvPr id="26" name="fighter-copy-2">
            <a:extLst xmlns:a="http://schemas.openxmlformats.org/drawingml/2006/main">
              <a:ext uri="{FF2B5EF4-FFF2-40B4-BE49-F238E27FC236}">
                <a16:creationId xmlns:a16="http://schemas.microsoft.com/office/drawing/2014/main" id="{49B46447-C157-4E52-9080-F7747E8D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768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6AFBC"/>
                </a:solidFill>
              </a:defRPr>
            </a:pPr>
            <a:r>
              <a:rPr sz="1425" b="0" i="0">
                <a:solidFill>
                  <a:srgbClr val="A6AFBC"/>
                </a:solidFill>
              </a:rPr>
              <a:t>A combat-sports community built around real participation.</a:t>
            </a:r>
          </a:p>
        </p:txBody>
      </p:sp>
      <p:sp>
        <p:nvSpPr>
          <p:cNvPr id="27" name="fighter-boundary">
            <a:extLst xmlns:a="http://schemas.openxmlformats.org/drawingml/2006/main">
              <a:ext uri="{FF2B5EF4-FFF2-40B4-BE49-F238E27FC236}">
                <a16:creationId xmlns:a16="http://schemas.microsoft.com/office/drawing/2014/main" id="{59C0D1BF-5124-41B2-A8F6-97A729FB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Product concept - experience details require pilot validation.</a:t>
            </a:r>
          </a:p>
        </p:txBody>
      </p:sp>
    </p:spTree>
    <p:extLst>
      <p:ext uri="{BB962C8B-B14F-4D97-AF65-F5344CB8AC3E}">
        <p14:creationId xmlns:p14="http://schemas.microsoft.com/office/powerpoint/2010/main" val="879696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header-blue-5">
            <a:extLst xmlns:a="http://schemas.openxmlformats.org/drawingml/2006/main">
              <a:ext uri="{FF2B5EF4-FFF2-40B4-BE49-F238E27FC236}">
                <a16:creationId xmlns:a16="http://schemas.microsoft.com/office/drawing/2014/main" id="{F5960D8C-E235-4A0F-A9F4-2D4F74B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5">
            <a:extLst xmlns:a="http://schemas.openxmlformats.org/drawingml/2006/main">
              <a:ext uri="{FF2B5EF4-FFF2-40B4-BE49-F238E27FC236}">
                <a16:creationId xmlns:a16="http://schemas.microsoft.com/office/drawing/2014/main" id="{549015E1-D9AF-4F14-A4CD-4613ED56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42EA"/>
                </a:solidFill>
              </a:defRPr>
            </a:pPr>
            <a:r>
              <a:rPr sz="825" b="1" i="0">
                <a:solidFill>
                  <a:srgbClr val="0042EA"/>
                </a:solidFill>
              </a:rPr>
              <a:t>GYM EXPERIENCE</a:t>
            </a:r>
          </a:p>
        </p:txBody>
      </p:sp>
      <p:sp>
        <p:nvSpPr>
          <p:cNvPr id="3" name="header-title-5">
            <a:extLst xmlns:a="http://schemas.openxmlformats.org/drawingml/2006/main">
              <a:ext uri="{FF2B5EF4-FFF2-40B4-BE49-F238E27FC236}">
                <a16:creationId xmlns:a16="http://schemas.microsoft.com/office/drawing/2014/main" id="{DDD6BCD9-C6BF-4E22-8104-4B4A841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017"/>
                </a:solidFill>
              </a:defRPr>
            </a:pPr>
            <a:r>
              <a:rPr sz="3150" b="1" i="0">
                <a:solidFill>
                  <a:srgbClr val="0B1017"/>
                </a:solidFill>
              </a:rPr>
              <a:t>For gyms, the network becomes an operating advantage</a:t>
            </a:r>
          </a:p>
        </p:txBody>
      </p:sp>
      <p:sp>
        <p:nvSpPr>
          <p:cNvPr id="4" name="header-subtitle-5">
            <a:extLst xmlns:a="http://schemas.openxmlformats.org/drawingml/2006/main">
              <a:ext uri="{FF2B5EF4-FFF2-40B4-BE49-F238E27FC236}">
                <a16:creationId xmlns:a16="http://schemas.microsoft.com/office/drawing/2014/main" id="{1F26FF2A-E5EB-472D-81B3-DED81A9E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3"/>
                </a:solidFill>
              </a:defRPr>
            </a:pPr>
            <a:r>
              <a:rPr sz="1350" b="0" i="0">
                <a:solidFill>
                  <a:srgbClr val="5C6673"/>
                </a:solidFill>
              </a:rPr>
              <a:t>Discovery and scheduling can lead into verified participation, hosted competition, and a stronger local community.</a:t>
            </a:r>
          </a:p>
        </p:txBody>
      </p:sp>
      <p:sp>
        <p:nvSpPr>
          <p:cNvPr id="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18C21CD-71B9-42BB-B070-B530F8D1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112f831b346f2">
            <a:extLst>
              <a:ext uri="{96DAC541-7B7A-43D3-8B79-37D633B846F1}">
                <asvg:svgBlip xmlns:asvg="http://schemas.microsoft.com/office/drawing/2016/SVG/main" r:embed="R679ddec26c724b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0466AAEF-33D8-4BA7-81FF-91240EBE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1017"/>
                </a:solidFill>
              </a:defRPr>
            </a:pPr>
            <a:r>
              <a:rPr sz="900" b="1" i="0">
                <a:solidFill>
                  <a:srgbClr val="0B1017"/>
                </a:solidFill>
              </a:rPr>
              <a:t>SAPAR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5571E636-F663-452A-B25C-B411E7C2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STRATEGIC PARTNER BRIEF / GYM EXPERIENCE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6F1632E-0975-4F63-A1C8-9C025742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05 / 14</a:t>
            </a:r>
          </a:p>
        </p:txBody>
      </p:sp>
      <p:sp>
        <p:nvSpPr>
          <p:cNvPr id="10" name="gym-flow">
            <a:extLst xmlns:a="http://schemas.openxmlformats.org/drawingml/2006/main">
              <a:ext uri="{FF2B5EF4-FFF2-40B4-BE49-F238E27FC236}">
                <a16:creationId xmlns:a16="http://schemas.microsoft.com/office/drawing/2014/main" id="{780B5E6A-F210-4DF2-B90F-85974AB4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9791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ym-dot-0">
            <a:extLst xmlns:a="http://schemas.openxmlformats.org/drawingml/2006/main">
              <a:ext uri="{FF2B5EF4-FFF2-40B4-BE49-F238E27FC236}">
                <a16:creationId xmlns:a16="http://schemas.microsoft.com/office/drawing/2014/main" id="{050A80BB-73D2-4F39-A0B2-3A79333A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42EA"/>
            </a:solidFill>
            <a:prstDash val="solid"/>
          </a:ln>
        </p:spPr>
      </p:sp>
      <p:sp>
        <p:nvSpPr>
          <p:cNvPr id="12" name="gym-step-0">
            <a:extLst xmlns:a="http://schemas.openxmlformats.org/drawingml/2006/main">
              <a:ext uri="{FF2B5EF4-FFF2-40B4-BE49-F238E27FC236}">
                <a16:creationId xmlns:a16="http://schemas.microsoft.com/office/drawing/2014/main" id="{2E6CA62D-CB2B-423E-B3F3-FAB4B98F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42EA"/>
                </a:solidFill>
              </a:defRPr>
            </a:pPr>
            <a:r>
              <a:rPr sz="1050" b="1" i="0">
                <a:solidFill>
                  <a:srgbClr val="0042EA"/>
                </a:solidFill>
              </a:rPr>
              <a:t>1</a:t>
            </a:r>
          </a:p>
        </p:txBody>
      </p:sp>
      <p:sp>
        <p:nvSpPr>
          <p:cNvPr id="13" name="gym-label-0">
            <a:extLst xmlns:a="http://schemas.openxmlformats.org/drawingml/2006/main">
              <a:ext uri="{FF2B5EF4-FFF2-40B4-BE49-F238E27FC236}">
                <a16:creationId xmlns:a16="http://schemas.microsoft.com/office/drawing/2014/main" id="{3C97A0BD-D985-46DB-A9CB-1D43E402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017"/>
                </a:solidFill>
              </a:defRPr>
            </a:pPr>
            <a:r>
              <a:rPr sz="1650" b="1" i="0">
                <a:solidFill>
                  <a:srgbClr val="0B1017"/>
                </a:solidFill>
              </a:rPr>
              <a:t>DISCOVER</a:t>
            </a:r>
          </a:p>
        </p:txBody>
      </p:sp>
      <p:sp>
        <p:nvSpPr>
          <p:cNvPr id="14" name="gym-copy-0">
            <a:extLst xmlns:a="http://schemas.openxmlformats.org/drawingml/2006/main">
              <a:ext uri="{FF2B5EF4-FFF2-40B4-BE49-F238E27FC236}">
                <a16:creationId xmlns:a16="http://schemas.microsoft.com/office/drawing/2014/main" id="{4ACED0CA-F482-4E41-AA5A-361543C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Be found by the right athletes</a:t>
            </a:r>
          </a:p>
        </p:txBody>
      </p:sp>
      <p:sp>
        <p:nvSpPr>
          <p:cNvPr id="15" name="gym-dot-1">
            <a:extLst xmlns:a="http://schemas.openxmlformats.org/drawingml/2006/main">
              <a:ext uri="{FF2B5EF4-FFF2-40B4-BE49-F238E27FC236}">
                <a16:creationId xmlns:a16="http://schemas.microsoft.com/office/drawing/2014/main" id="{1D183BA7-D283-4F68-9162-4EE465F4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42EA"/>
            </a:solidFill>
            <a:prstDash val="solid"/>
          </a:ln>
        </p:spPr>
      </p:sp>
      <p:sp>
        <p:nvSpPr>
          <p:cNvPr id="16" name="gym-step-1">
            <a:extLst xmlns:a="http://schemas.openxmlformats.org/drawingml/2006/main">
              <a:ext uri="{FF2B5EF4-FFF2-40B4-BE49-F238E27FC236}">
                <a16:creationId xmlns:a16="http://schemas.microsoft.com/office/drawing/2014/main" id="{A01EA327-CDBA-43C0-905A-C4B8DF6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42EA"/>
                </a:solidFill>
              </a:defRPr>
            </a:pPr>
            <a:r>
              <a:rPr sz="1050" b="1" i="0">
                <a:solidFill>
                  <a:srgbClr val="0042EA"/>
                </a:solidFill>
              </a:rPr>
              <a:t>2</a:t>
            </a:r>
          </a:p>
        </p:txBody>
      </p:sp>
      <p:sp>
        <p:nvSpPr>
          <p:cNvPr id="17" name="gym-label-1">
            <a:extLst xmlns:a="http://schemas.openxmlformats.org/drawingml/2006/main">
              <a:ext uri="{FF2B5EF4-FFF2-40B4-BE49-F238E27FC236}">
                <a16:creationId xmlns:a16="http://schemas.microsoft.com/office/drawing/2014/main" id="{78B94266-8551-457E-B408-46B66366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017"/>
                </a:solidFill>
              </a:defRPr>
            </a:pPr>
            <a:r>
              <a:rPr sz="1650" b="1" i="0">
                <a:solidFill>
                  <a:srgbClr val="0B1017"/>
                </a:solidFill>
              </a:rPr>
              <a:t>SCHEDULE</a:t>
            </a:r>
          </a:p>
        </p:txBody>
      </p:sp>
      <p:sp>
        <p:nvSpPr>
          <p:cNvPr id="18" name="gym-copy-1">
            <a:extLst xmlns:a="http://schemas.openxmlformats.org/drawingml/2006/main">
              <a:ext uri="{FF2B5EF4-FFF2-40B4-BE49-F238E27FC236}">
                <a16:creationId xmlns:a16="http://schemas.microsoft.com/office/drawing/2014/main" id="{8AF47B76-50A9-40EE-B9B4-1F99EC2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196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Coordinate sessions and mat time</a:t>
            </a:r>
          </a:p>
        </p:txBody>
      </p:sp>
      <p:sp>
        <p:nvSpPr>
          <p:cNvPr id="19" name="gym-dot-2">
            <a:extLst xmlns:a="http://schemas.openxmlformats.org/drawingml/2006/main">
              <a:ext uri="{FF2B5EF4-FFF2-40B4-BE49-F238E27FC236}">
                <a16:creationId xmlns:a16="http://schemas.microsoft.com/office/drawing/2014/main" id="{334191D2-1A20-4C33-AE14-7003A74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28575">
            <a:solidFill>
              <a:srgbClr val="0042EA"/>
            </a:solidFill>
            <a:prstDash val="solid"/>
          </a:ln>
        </p:spPr>
      </p:sp>
      <p:sp>
        <p:nvSpPr>
          <p:cNvPr id="20" name="gym-step-2">
            <a:extLst xmlns:a="http://schemas.openxmlformats.org/drawingml/2006/main">
              <a:ext uri="{FF2B5EF4-FFF2-40B4-BE49-F238E27FC236}">
                <a16:creationId xmlns:a16="http://schemas.microsoft.com/office/drawing/2014/main" id="{09D4B907-A39B-450D-94A6-5CBFE6E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8FAFC"/>
                </a:solidFill>
              </a:defRPr>
            </a:pPr>
            <a:r>
              <a:rPr sz="1050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1" name="gym-label-2">
            <a:extLst xmlns:a="http://schemas.openxmlformats.org/drawingml/2006/main">
              <a:ext uri="{FF2B5EF4-FFF2-40B4-BE49-F238E27FC236}">
                <a16:creationId xmlns:a16="http://schemas.microsoft.com/office/drawing/2014/main" id="{CADF8BC6-6932-4FDA-B5A8-1C4FD30C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62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017"/>
                </a:solidFill>
              </a:defRPr>
            </a:pPr>
            <a:r>
              <a:rPr sz="1650" b="1" i="0">
                <a:solidFill>
                  <a:srgbClr val="0B1017"/>
                </a:solidFill>
              </a:rPr>
              <a:t>HOST</a:t>
            </a:r>
          </a:p>
        </p:txBody>
      </p:sp>
      <p:sp>
        <p:nvSpPr>
          <p:cNvPr id="22" name="gym-copy-2">
            <a:extLst xmlns:a="http://schemas.openxmlformats.org/drawingml/2006/main">
              <a:ext uri="{FF2B5EF4-FFF2-40B4-BE49-F238E27FC236}">
                <a16:creationId xmlns:a16="http://schemas.microsoft.com/office/drawing/2014/main" id="{E5BD97B1-CB74-4B25-8838-A025DA9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196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Run bounded events and open mats</a:t>
            </a:r>
          </a:p>
        </p:txBody>
      </p:sp>
      <p:sp>
        <p:nvSpPr>
          <p:cNvPr id="23" name="gym-dot-3">
            <a:extLst xmlns:a="http://schemas.openxmlformats.org/drawingml/2006/main">
              <a:ext uri="{FF2B5EF4-FFF2-40B4-BE49-F238E27FC236}">
                <a16:creationId xmlns:a16="http://schemas.microsoft.com/office/drawing/2014/main" id="{9CD251FE-84CE-4A62-A373-261F06C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42EA"/>
            </a:solidFill>
            <a:prstDash val="solid"/>
          </a:ln>
        </p:spPr>
      </p:sp>
      <p:sp>
        <p:nvSpPr>
          <p:cNvPr id="24" name="gym-step-3">
            <a:extLst xmlns:a="http://schemas.openxmlformats.org/drawingml/2006/main">
              <a:ext uri="{FF2B5EF4-FFF2-40B4-BE49-F238E27FC236}">
                <a16:creationId xmlns:a16="http://schemas.microsoft.com/office/drawing/2014/main" id="{89DD05DC-B4E7-470F-82F8-0832D7AA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42EA"/>
                </a:solidFill>
              </a:defRPr>
            </a:pPr>
            <a:r>
              <a:rPr sz="1050" b="1" i="0">
                <a:solidFill>
                  <a:srgbClr val="0042EA"/>
                </a:solidFill>
              </a:rPr>
              <a:t>4</a:t>
            </a:r>
          </a:p>
        </p:txBody>
      </p:sp>
      <p:sp>
        <p:nvSpPr>
          <p:cNvPr id="25" name="gym-label-3">
            <a:extLst xmlns:a="http://schemas.openxmlformats.org/drawingml/2006/main">
              <a:ext uri="{FF2B5EF4-FFF2-40B4-BE49-F238E27FC236}">
                <a16:creationId xmlns:a16="http://schemas.microsoft.com/office/drawing/2014/main" id="{F1EEEFB5-FD94-4558-8D64-7CD392C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017"/>
                </a:solidFill>
              </a:defRPr>
            </a:pPr>
            <a:r>
              <a:rPr sz="1650" b="1" i="0">
                <a:solidFill>
                  <a:srgbClr val="0B1017"/>
                </a:solidFill>
              </a:rPr>
              <a:t>VERIFY</a:t>
            </a:r>
          </a:p>
        </p:txBody>
      </p:sp>
      <p:sp>
        <p:nvSpPr>
          <p:cNvPr id="26" name="gym-copy-3">
            <a:extLst xmlns:a="http://schemas.openxmlformats.org/drawingml/2006/main">
              <a:ext uri="{FF2B5EF4-FFF2-40B4-BE49-F238E27FC236}">
                <a16:creationId xmlns:a16="http://schemas.microsoft.com/office/drawing/2014/main" id="{A8E9F7B2-3923-42F3-A1FD-CBDAC4EE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Confirm participation and results</a:t>
            </a:r>
          </a:p>
        </p:txBody>
      </p:sp>
      <p:sp>
        <p:nvSpPr>
          <p:cNvPr id="27" name="gym-dot-4">
            <a:extLst xmlns:a="http://schemas.openxmlformats.org/drawingml/2006/main">
              <a:ext uri="{FF2B5EF4-FFF2-40B4-BE49-F238E27FC236}">
                <a16:creationId xmlns:a16="http://schemas.microsoft.com/office/drawing/2014/main" id="{CD9F3676-5243-4215-85C6-75737046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42EA"/>
            </a:solidFill>
            <a:prstDash val="solid"/>
          </a:ln>
        </p:spPr>
      </p:sp>
      <p:sp>
        <p:nvSpPr>
          <p:cNvPr id="28" name="gym-step-4">
            <a:extLst xmlns:a="http://schemas.openxmlformats.org/drawingml/2006/main">
              <a:ext uri="{FF2B5EF4-FFF2-40B4-BE49-F238E27FC236}">
                <a16:creationId xmlns:a16="http://schemas.microsoft.com/office/drawing/2014/main" id="{839E8095-4B71-4500-9F91-B3D4DC2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6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42EA"/>
                </a:solidFill>
              </a:defRPr>
            </a:pPr>
            <a:r>
              <a:rPr sz="1050" b="1" i="0">
                <a:solidFill>
                  <a:srgbClr val="0042EA"/>
                </a:solidFill>
              </a:rPr>
              <a:t>5</a:t>
            </a:r>
          </a:p>
        </p:txBody>
      </p:sp>
      <p:sp>
        <p:nvSpPr>
          <p:cNvPr id="29" name="gym-label-4">
            <a:extLst xmlns:a="http://schemas.openxmlformats.org/drawingml/2006/main">
              <a:ext uri="{FF2B5EF4-FFF2-40B4-BE49-F238E27FC236}">
                <a16:creationId xmlns:a16="http://schemas.microsoft.com/office/drawing/2014/main" id="{EC758505-55E0-4147-AC7C-2929AD0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017"/>
                </a:solidFill>
              </a:defRPr>
            </a:pPr>
            <a:r>
              <a:rPr sz="1650" b="1" i="0">
                <a:solidFill>
                  <a:srgbClr val="0B1017"/>
                </a:solidFill>
              </a:rPr>
              <a:t>RETAIN</a:t>
            </a:r>
          </a:p>
        </p:txBody>
      </p:sp>
      <p:sp>
        <p:nvSpPr>
          <p:cNvPr id="30" name="gym-copy-4">
            <a:extLst xmlns:a="http://schemas.openxmlformats.org/drawingml/2006/main">
              <a:ext uri="{FF2B5EF4-FFF2-40B4-BE49-F238E27FC236}">
                <a16:creationId xmlns:a16="http://schemas.microsoft.com/office/drawing/2014/main" id="{639960C0-0868-4DFD-A04D-9CEFD8F4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196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Turn activity into community</a:t>
            </a:r>
          </a:p>
        </p:txBody>
      </p:sp>
      <p:sp>
        <p:nvSpPr>
          <p:cNvPr id="31" name="gym-callout">
            <a:extLst xmlns:a="http://schemas.openxmlformats.org/drawingml/2006/main">
              <a:ext uri="{FF2B5EF4-FFF2-40B4-BE49-F238E27FC236}">
                <a16:creationId xmlns:a16="http://schemas.microsoft.com/office/drawing/2014/main" id="{F61E2BEA-A488-462A-86FD-FCFB355D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05450"/>
            <a:ext cx="883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ym-callout-text">
            <a:extLst xmlns:a="http://schemas.openxmlformats.org/drawingml/2006/main">
              <a:ext uri="{FF2B5EF4-FFF2-40B4-BE49-F238E27FC236}">
                <a16:creationId xmlns:a16="http://schemas.microsoft.com/office/drawing/2014/main" id="{634C7035-4BA2-42A9-8EBD-A7DCF19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19750"/>
            <a:ext cx="826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Prove repeatable operations with one-to-three partner gyms before scaling.</a:t>
            </a:r>
          </a:p>
        </p:txBody>
      </p:sp>
    </p:spTree>
    <p:extLst>
      <p:ext uri="{BB962C8B-B14F-4D97-AF65-F5344CB8AC3E}">
        <p14:creationId xmlns:p14="http://schemas.microsoft.com/office/powerpoint/2010/main" val="1268997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4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901c71d0b46d7">
            <a:extLst>
              <a:ext uri="{96DAC541-7B7A-43D3-8B79-37D633B846F1}">
                <asvg:svgBlip xmlns:asvg="http://schemas.microsoft.com/office/drawing/2016/SVG/main" r:embed="R1563bab0b1a04f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19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" name="verdict-section">
            <a:extLst xmlns:a="http://schemas.openxmlformats.org/drawingml/2006/main">
              <a:ext uri="{FF2B5EF4-FFF2-40B4-BE49-F238E27FC236}">
                <a16:creationId xmlns:a16="http://schemas.microsoft.com/office/drawing/2014/main" id="{54ED4985-396D-4BDB-B809-17E09D9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FEASIBILITY VERDICT</a:t>
            </a:r>
          </a:p>
        </p:txBody>
      </p:sp>
      <p:sp>
        <p:nvSpPr>
          <p:cNvPr id="3" name="verdict-title">
            <a:extLst xmlns:a="http://schemas.openxmlformats.org/drawingml/2006/main">
              <a:ext uri="{FF2B5EF4-FFF2-40B4-BE49-F238E27FC236}">
                <a16:creationId xmlns:a16="http://schemas.microsoft.com/office/drawing/2014/main" id="{C69B7E4F-1AF2-4E4E-A1FD-9234952A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66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8FAFC"/>
                </a:solidFill>
              </a:defRPr>
            </a:pPr>
            <a:r>
              <a:rPr sz="4200" b="1" i="0">
                <a:solidFill>
                  <a:srgbClr val="F8FAFC"/>
                </a:solidFill>
              </a:rPr>
              <a:t>Build the platform.</a:t>
            </a:r>
          </a:p>
          <a:p xmlns:a="http://schemas.openxmlformats.org/drawingml/2006/main">
            <a:pPr algn="l">
              <a:defRPr sz="4200" b="1" i="0">
                <a:solidFill>
                  <a:srgbClr val="F8FAFC"/>
                </a:solidFill>
              </a:defRPr>
            </a:pPr>
            <a:r>
              <a:rPr sz="4200" b="1" i="0">
                <a:solidFill>
                  <a:srgbClr val="F8FAFC"/>
                </a:solidFill>
              </a:rPr>
              <a:t>Earn the intelligence.</a:t>
            </a:r>
          </a:p>
        </p:txBody>
      </p:sp>
      <p:sp>
        <p:nvSpPr>
          <p:cNvPr id="4" name="verdict-white-rule">
            <a:extLst xmlns:a="http://schemas.openxmlformats.org/drawingml/2006/main">
              <a:ext uri="{FF2B5EF4-FFF2-40B4-BE49-F238E27FC236}">
                <a16:creationId xmlns:a16="http://schemas.microsoft.com/office/drawing/2014/main" id="{C2D1BA55-D22F-4292-B0BF-CAEF9959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508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dict-core">
            <a:extLst xmlns:a="http://schemas.openxmlformats.org/drawingml/2006/main">
              <a:ext uri="{FF2B5EF4-FFF2-40B4-BE49-F238E27FC236}">
                <a16:creationId xmlns:a16="http://schemas.microsoft.com/office/drawing/2014/main" id="{0531C48F-2F2F-4120-AA92-85A2811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2197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dict-core-kicker">
            <a:extLst xmlns:a="http://schemas.openxmlformats.org/drawingml/2006/main">
              <a:ext uri="{FF2B5EF4-FFF2-40B4-BE49-F238E27FC236}">
                <a16:creationId xmlns:a16="http://schemas.microsoft.com/office/drawing/2014/main" id="{3B7897E0-A390-4112-BC46-79721D5F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42EA"/>
                </a:solidFill>
              </a:defRPr>
            </a:pPr>
            <a:r>
              <a:rPr sz="900" b="1" i="0">
                <a:solidFill>
                  <a:srgbClr val="0042EA"/>
                </a:solidFill>
              </a:rPr>
              <a:t>FEASIBLE NOW</a:t>
            </a:r>
          </a:p>
        </p:txBody>
      </p:sp>
      <p:sp>
        <p:nvSpPr>
          <p:cNvPr id="7" name="verdict-core-title">
            <a:extLst xmlns:a="http://schemas.openxmlformats.org/drawingml/2006/main">
              <a:ext uri="{FF2B5EF4-FFF2-40B4-BE49-F238E27FC236}">
                <a16:creationId xmlns:a16="http://schemas.microsoft.com/office/drawing/2014/main" id="{229F5EB5-5ED7-4A3C-AACB-CD816BD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17"/>
                </a:solidFill>
              </a:defRPr>
            </a:pPr>
            <a:r>
              <a:rPr sz="2625" b="1" i="0">
                <a:solidFill>
                  <a:srgbClr val="0B1017"/>
                </a:solidFill>
              </a:rPr>
              <a:t>CONNECTED CORE</a:t>
            </a:r>
          </a:p>
        </p:txBody>
      </p:sp>
      <p:sp>
        <p:nvSpPr>
          <p:cNvPr id="8" name="verdict-core-copy">
            <a:extLst xmlns:a="http://schemas.openxmlformats.org/drawingml/2006/main">
              <a:ext uri="{FF2B5EF4-FFF2-40B4-BE49-F238E27FC236}">
                <a16:creationId xmlns:a16="http://schemas.microsoft.com/office/drawing/2014/main" id="{EC920C3A-46C8-445A-9CDD-9001C2B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305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6673"/>
                </a:solidFill>
              </a:defRPr>
            </a:pPr>
            <a:r>
              <a:rPr sz="1575" b="0" i="0">
                <a:solidFill>
                  <a:srgbClr val="5C6673"/>
                </a:solidFill>
              </a:rPr>
              <a:t>Identity, profiles, gyms, events, result ledger, ratings, media workflows, and bounded community.</a:t>
            </a:r>
          </a:p>
        </p:txBody>
      </p:sp>
      <p:sp>
        <p:nvSpPr>
          <p:cNvPr id="9" name="verdict-ai">
            <a:extLst xmlns:a="http://schemas.openxmlformats.org/drawingml/2006/main">
              <a:ext uri="{FF2B5EF4-FFF2-40B4-BE49-F238E27FC236}">
                <a16:creationId xmlns:a16="http://schemas.microsoft.com/office/drawing/2014/main" id="{ECC28A95-2520-4472-91EA-D96E0361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55435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erdict-ai-kicker">
            <a:extLst xmlns:a="http://schemas.openxmlformats.org/drawingml/2006/main">
              <a:ext uri="{FF2B5EF4-FFF2-40B4-BE49-F238E27FC236}">
                <a16:creationId xmlns:a16="http://schemas.microsoft.com/office/drawing/2014/main" id="{4003C293-97D8-4F23-BF9D-E1524F8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B13B"/>
                </a:solidFill>
              </a:defRPr>
            </a:pPr>
            <a:r>
              <a:rPr sz="900" b="1" i="0">
                <a:solidFill>
                  <a:srgbClr val="FFB13B"/>
                </a:solidFill>
              </a:rPr>
              <a:t>PROVE FIRST</a:t>
            </a:r>
          </a:p>
        </p:txBody>
      </p:sp>
      <p:sp>
        <p:nvSpPr>
          <p:cNvPr id="11" name="verdict-ai-title">
            <a:extLst xmlns:a="http://schemas.openxmlformats.org/drawingml/2006/main">
              <a:ext uri="{FF2B5EF4-FFF2-40B4-BE49-F238E27FC236}">
                <a16:creationId xmlns:a16="http://schemas.microsoft.com/office/drawing/2014/main" id="{F9C05FE7-0EE1-4CF4-8B84-482B72E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8FAFC"/>
                </a:solidFill>
              </a:defRPr>
            </a:pPr>
            <a:r>
              <a:rPr sz="2475" b="1" i="0">
                <a:solidFill>
                  <a:srgbClr val="F8FAFC"/>
                </a:solidFill>
              </a:rPr>
              <a:t>PERCEPTION + SCORING</a:t>
            </a:r>
          </a:p>
        </p:txBody>
      </p:sp>
      <p:sp>
        <p:nvSpPr>
          <p:cNvPr id="12" name="verdict-ai-copy">
            <a:extLst xmlns:a="http://schemas.openxmlformats.org/drawingml/2006/main">
              <a:ext uri="{FF2B5EF4-FFF2-40B4-BE49-F238E27FC236}">
                <a16:creationId xmlns:a16="http://schemas.microsoft.com/office/drawing/2014/main" id="{3673F8D9-CE6E-422D-A970-B538C0CF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64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AFBC"/>
                </a:solidFill>
              </a:defRPr>
            </a:pPr>
            <a:r>
              <a:rPr sz="1500" b="0" i="0">
                <a:solidFill>
                  <a:srgbClr val="A6AFBC"/>
                </a:solidFill>
              </a:rPr>
              <a:t>Tracking, positions, technique understanding, live analysis, and any scoring suggestion require staged evidence and human authority.</a:t>
            </a:r>
          </a:p>
        </p:txBody>
      </p:sp>
      <p:sp>
        <p:nvSpPr>
          <p:cNvPr id="13" name="verdict-stop">
            <a:extLst xmlns:a="http://schemas.openxmlformats.org/drawingml/2006/main">
              <a:ext uri="{FF2B5EF4-FFF2-40B4-BE49-F238E27FC236}">
                <a16:creationId xmlns:a16="http://schemas.microsoft.com/office/drawing/2014/main" id="{24FBE511-0379-4999-8A9A-941B232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AUTONOMOUS OFFICIAL SCORING IS NOT AN EARLY PRODUCT PROMISE</a:t>
            </a:r>
          </a:p>
        </p:txBody>
      </p:sp>
    </p:spTree>
    <p:extLst>
      <p:ext uri="{BB962C8B-B14F-4D97-AF65-F5344CB8AC3E}">
        <p14:creationId xmlns:p14="http://schemas.microsoft.com/office/powerpoint/2010/main" val="1111165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-blue-7">
            <a:extLst xmlns:a="http://schemas.openxmlformats.org/drawingml/2006/main">
              <a:ext uri="{FF2B5EF4-FFF2-40B4-BE49-F238E27FC236}">
                <a16:creationId xmlns:a16="http://schemas.microsoft.com/office/drawing/2014/main" id="{5832DF03-DADB-46F8-A096-0CC4DBD2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7">
            <a:extLst xmlns:a="http://schemas.openxmlformats.org/drawingml/2006/main">
              <a:ext uri="{FF2B5EF4-FFF2-40B4-BE49-F238E27FC236}">
                <a16:creationId xmlns:a16="http://schemas.microsoft.com/office/drawing/2014/main" id="{4E13F179-58CE-4042-A190-64EF339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CORRECT BUILD ORDER</a:t>
            </a:r>
          </a:p>
        </p:txBody>
      </p:sp>
      <p:sp>
        <p:nvSpPr>
          <p:cNvPr id="3" name="header-title-7">
            <a:extLst xmlns:a="http://schemas.openxmlformats.org/drawingml/2006/main">
              <a:ext uri="{FF2B5EF4-FFF2-40B4-BE49-F238E27FC236}">
                <a16:creationId xmlns:a16="http://schemas.microsoft.com/office/drawing/2014/main" id="{424715B6-8FE5-43DE-8F6E-482F5F8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The order is the strategy</a:t>
            </a:r>
          </a:p>
        </p:txBody>
      </p:sp>
      <p:sp>
        <p:nvSpPr>
          <p:cNvPr id="4" name="header-subtitle-7">
            <a:extLst xmlns:a="http://schemas.openxmlformats.org/drawingml/2006/main">
              <a:ext uri="{FF2B5EF4-FFF2-40B4-BE49-F238E27FC236}">
                <a16:creationId xmlns:a16="http://schemas.microsoft.com/office/drawing/2014/main" id="{5AC24B9A-1687-4C5F-A12C-7B63E293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Each stage earns the evidence, data, and operational confidence required by the next.</a:t>
            </a:r>
          </a:p>
        </p:txBody>
      </p:sp>
      <p:sp>
        <p:nvSpPr>
          <p:cNvPr id="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3150C930-3077-4ACC-8035-E9CB670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559281c5a4f3b">
            <a:extLst>
              <a:ext uri="{96DAC541-7B7A-43D3-8B79-37D633B846F1}">
                <asvg:svgBlip xmlns:asvg="http://schemas.microsoft.com/office/drawing/2016/SVG/main" r:embed="Rbc751bda85924b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47654F73-8C4A-4F0C-A8B8-93A03149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E22B70A9-5847-48C3-A9C1-025EA47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CORRECT BUILD ORDER</a:t>
            </a:r>
          </a:p>
        </p:txBody>
      </p:sp>
      <p:sp>
        <p:nvSpPr>
          <p:cNvPr id="9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DEC73499-424F-47CC-824D-36BA06F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07 / 14</a:t>
            </a:r>
          </a:p>
        </p:txBody>
      </p:sp>
      <p:sp>
        <p:nvSpPr>
          <p:cNvPr id="10" name="order-base">
            <a:extLst xmlns:a="http://schemas.openxmlformats.org/drawingml/2006/main">
              <a:ext uri="{FF2B5EF4-FFF2-40B4-BE49-F238E27FC236}">
                <a16:creationId xmlns:a16="http://schemas.microsoft.com/office/drawing/2014/main" id="{B6C1EC41-5E17-4779-B4A3-90745A1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040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rder-stage-0">
            <a:extLst xmlns:a="http://schemas.openxmlformats.org/drawingml/2006/main">
              <a:ext uri="{FF2B5EF4-FFF2-40B4-BE49-F238E27FC236}">
                <a16:creationId xmlns:a16="http://schemas.microsoft.com/office/drawing/2014/main" id="{6EBEC8F2-E05E-4503-A4BD-620B4CD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600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12" name="order-n-0-disc">
            <a:extLst xmlns:a="http://schemas.openxmlformats.org/drawingml/2006/main">
              <a:ext uri="{FF2B5EF4-FFF2-40B4-BE49-F238E27FC236}">
                <a16:creationId xmlns:a16="http://schemas.microsoft.com/office/drawing/2014/main" id="{541DC206-3B63-4D79-BEA7-0601B415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rder-n-0-value">
            <a:extLst xmlns:a="http://schemas.openxmlformats.org/drawingml/2006/main">
              <a:ext uri="{FF2B5EF4-FFF2-40B4-BE49-F238E27FC236}">
                <a16:creationId xmlns:a16="http://schemas.microsoft.com/office/drawing/2014/main" id="{5B5758D8-0162-4ECD-9F46-B9D8CC1E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4" name="order-label-0">
            <a:extLst xmlns:a="http://schemas.openxmlformats.org/drawingml/2006/main">
              <a:ext uri="{FF2B5EF4-FFF2-40B4-BE49-F238E27FC236}">
                <a16:creationId xmlns:a16="http://schemas.microsoft.com/office/drawing/2014/main" id="{EBA43BB4-D983-412C-95E7-631FF1A9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AUTHORITY</a:t>
            </a:r>
          </a:p>
        </p:txBody>
      </p:sp>
      <p:sp>
        <p:nvSpPr>
          <p:cNvPr id="15" name="order-detail-0">
            <a:extLst xmlns:a="http://schemas.openxmlformats.org/drawingml/2006/main">
              <a:ext uri="{FF2B5EF4-FFF2-40B4-BE49-F238E27FC236}">
                <a16:creationId xmlns:a16="http://schemas.microsoft.com/office/drawing/2014/main" id="{FE4DA682-4DF9-43FF-8F2A-713009FC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Rules / rights / roles</a:t>
            </a:r>
          </a:p>
        </p:txBody>
      </p:sp>
      <p:sp>
        <p:nvSpPr>
          <p:cNvPr id="16" name="order-gate-0">
            <a:extLst xmlns:a="http://schemas.openxmlformats.org/drawingml/2006/main">
              <a:ext uri="{FF2B5EF4-FFF2-40B4-BE49-F238E27FC236}">
                <a16:creationId xmlns:a16="http://schemas.microsoft.com/office/drawing/2014/main" id="{CFB39540-A982-43B2-94E1-A66A4B2D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3478FF"/>
                </a:solidFill>
              </a:defRPr>
            </a:pPr>
            <a:r>
              <a:rPr sz="600" b="1" i="0">
                <a:solidFill>
                  <a:srgbClr val="3478FF"/>
                </a:solidFill>
              </a:rPr>
              <a:t>Exit: decisions signed</a:t>
            </a:r>
          </a:p>
        </p:txBody>
      </p:sp>
      <p:sp>
        <p:nvSpPr>
          <p:cNvPr id="17" name="order-stage-1">
            <a:extLst xmlns:a="http://schemas.openxmlformats.org/drawingml/2006/main">
              <a:ext uri="{FF2B5EF4-FFF2-40B4-BE49-F238E27FC236}">
                <a16:creationId xmlns:a16="http://schemas.microsoft.com/office/drawing/2014/main" id="{7C3E1EEF-6164-460F-9C20-3BB63F19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1600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18" name="order-n-1-disc">
            <a:extLst xmlns:a="http://schemas.openxmlformats.org/drawingml/2006/main">
              <a:ext uri="{FF2B5EF4-FFF2-40B4-BE49-F238E27FC236}">
                <a16:creationId xmlns:a16="http://schemas.microsoft.com/office/drawing/2014/main" id="{D9FEF611-A768-453B-B62E-B92FF911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rder-n-1-value">
            <a:extLst xmlns:a="http://schemas.openxmlformats.org/drawingml/2006/main">
              <a:ext uri="{FF2B5EF4-FFF2-40B4-BE49-F238E27FC236}">
                <a16:creationId xmlns:a16="http://schemas.microsoft.com/office/drawing/2014/main" id="{662E50F6-7FFF-4BA8-B1C7-9E2EA462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194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0" name="order-label-1">
            <a:extLst xmlns:a="http://schemas.openxmlformats.org/drawingml/2006/main">
              <a:ext uri="{FF2B5EF4-FFF2-40B4-BE49-F238E27FC236}">
                <a16:creationId xmlns:a16="http://schemas.microsoft.com/office/drawing/2014/main" id="{1013EEE9-203E-448B-89E7-0581A3F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481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LEDGER</a:t>
            </a:r>
          </a:p>
        </p:txBody>
      </p:sp>
      <p:sp>
        <p:nvSpPr>
          <p:cNvPr id="21" name="order-detail-1">
            <a:extLst xmlns:a="http://schemas.openxmlformats.org/drawingml/2006/main">
              <a:ext uri="{FF2B5EF4-FFF2-40B4-BE49-F238E27FC236}">
                <a16:creationId xmlns:a16="http://schemas.microsoft.com/office/drawing/2014/main" id="{8FD4743C-82B9-4520-A545-9EFDF84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Events / results / replay</a:t>
            </a:r>
          </a:p>
        </p:txBody>
      </p:sp>
      <p:sp>
        <p:nvSpPr>
          <p:cNvPr id="22" name="order-gate-1">
            <a:extLst xmlns:a="http://schemas.openxmlformats.org/drawingml/2006/main">
              <a:ext uri="{FF2B5EF4-FFF2-40B4-BE49-F238E27FC236}">
                <a16:creationId xmlns:a16="http://schemas.microsoft.com/office/drawing/2014/main" id="{FA4DEE65-D92A-4BC3-A41C-E413CB8D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29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3478FF"/>
                </a:solidFill>
              </a:defRPr>
            </a:pPr>
            <a:r>
              <a:rPr sz="600" b="1" i="0">
                <a:solidFill>
                  <a:srgbClr val="3478FF"/>
                </a:solidFill>
              </a:rPr>
              <a:t>Exit: deterministic truth</a:t>
            </a:r>
          </a:p>
        </p:txBody>
      </p:sp>
      <p:sp>
        <p:nvSpPr>
          <p:cNvPr id="23" name="order-stage-2">
            <a:extLst xmlns:a="http://schemas.openxmlformats.org/drawingml/2006/main">
              <a:ext uri="{FF2B5EF4-FFF2-40B4-BE49-F238E27FC236}">
                <a16:creationId xmlns:a16="http://schemas.microsoft.com/office/drawing/2014/main" id="{6CB2A753-788B-4F3F-A45D-DFCE26C2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1600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4" name="order-n-2-disc">
            <a:extLst xmlns:a="http://schemas.openxmlformats.org/drawingml/2006/main">
              <a:ext uri="{FF2B5EF4-FFF2-40B4-BE49-F238E27FC236}">
                <a16:creationId xmlns:a16="http://schemas.microsoft.com/office/drawing/2014/main" id="{44B1385F-1882-46CD-8E92-00A5A963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rder-n-2-value">
            <a:extLst xmlns:a="http://schemas.openxmlformats.org/drawingml/2006/main">
              <a:ext uri="{FF2B5EF4-FFF2-40B4-BE49-F238E27FC236}">
                <a16:creationId xmlns:a16="http://schemas.microsoft.com/office/drawing/2014/main" id="{861DC358-5C59-4DEC-AB64-21B5A6BB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6" name="order-label-2">
            <a:extLst xmlns:a="http://schemas.openxmlformats.org/drawingml/2006/main">
              <a:ext uri="{FF2B5EF4-FFF2-40B4-BE49-F238E27FC236}">
                <a16:creationId xmlns:a16="http://schemas.microsoft.com/office/drawing/2014/main" id="{8E8752B5-51E6-493E-90C4-265F31C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PILOT</a:t>
            </a:r>
          </a:p>
        </p:txBody>
      </p:sp>
      <p:sp>
        <p:nvSpPr>
          <p:cNvPr id="27" name="order-detail-2">
            <a:extLst xmlns:a="http://schemas.openxmlformats.org/drawingml/2006/main">
              <a:ext uri="{FF2B5EF4-FFF2-40B4-BE49-F238E27FC236}">
                <a16:creationId xmlns:a16="http://schemas.microsoft.com/office/drawing/2014/main" id="{EBE9D60E-D7D2-4031-B1A2-E06B915B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Adult users / partner gyms</a:t>
            </a:r>
          </a:p>
        </p:txBody>
      </p:sp>
      <p:sp>
        <p:nvSpPr>
          <p:cNvPr id="28" name="order-gate-2">
            <a:extLst xmlns:a="http://schemas.openxmlformats.org/drawingml/2006/main">
              <a:ext uri="{FF2B5EF4-FFF2-40B4-BE49-F238E27FC236}">
                <a16:creationId xmlns:a16="http://schemas.microsoft.com/office/drawing/2014/main" id="{FE624F34-22B3-4E9A-A2F9-9F1DFA7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29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3478FF"/>
                </a:solidFill>
              </a:defRPr>
            </a:pPr>
            <a:r>
              <a:rPr sz="600" b="1" i="0">
                <a:solidFill>
                  <a:srgbClr val="3478FF"/>
                </a:solidFill>
              </a:rPr>
              <a:t>Exit: repeat use</a:t>
            </a:r>
          </a:p>
        </p:txBody>
      </p:sp>
      <p:sp>
        <p:nvSpPr>
          <p:cNvPr id="29" name="order-stage-3">
            <a:extLst xmlns:a="http://schemas.openxmlformats.org/drawingml/2006/main">
              <a:ext uri="{FF2B5EF4-FFF2-40B4-BE49-F238E27FC236}">
                <a16:creationId xmlns:a16="http://schemas.microsoft.com/office/drawing/2014/main" id="{5C1512B8-371D-49FB-9999-F0D41BDE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600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4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30" name="order-n-3-disc">
            <a:extLst xmlns:a="http://schemas.openxmlformats.org/drawingml/2006/main">
              <a:ext uri="{FF2B5EF4-FFF2-40B4-BE49-F238E27FC236}">
                <a16:creationId xmlns:a16="http://schemas.microsoft.com/office/drawing/2014/main" id="{2EECEE4F-8951-4827-8E9A-616085B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rder-n-3-value">
            <a:extLst xmlns:a="http://schemas.openxmlformats.org/drawingml/2006/main">
              <a:ext uri="{FF2B5EF4-FFF2-40B4-BE49-F238E27FC236}">
                <a16:creationId xmlns:a16="http://schemas.microsoft.com/office/drawing/2014/main" id="{7E3B293D-5933-4058-B71E-10DBF971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32" name="order-label-3">
            <a:extLst xmlns:a="http://schemas.openxmlformats.org/drawingml/2006/main">
              <a:ext uri="{FF2B5EF4-FFF2-40B4-BE49-F238E27FC236}">
                <a16:creationId xmlns:a16="http://schemas.microsoft.com/office/drawing/2014/main" id="{8256D8A5-1CF0-421E-893F-990792E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ASSIST</a:t>
            </a:r>
          </a:p>
        </p:txBody>
      </p:sp>
      <p:sp>
        <p:nvSpPr>
          <p:cNvPr id="33" name="order-detail-3">
            <a:extLst xmlns:a="http://schemas.openxmlformats.org/drawingml/2006/main">
              <a:ext uri="{FF2B5EF4-FFF2-40B4-BE49-F238E27FC236}">
                <a16:creationId xmlns:a16="http://schemas.microsoft.com/office/drawing/2014/main" id="{6D10BF78-F441-4A3E-94B9-0F88C05D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Search / summaries / review</a:t>
            </a:r>
          </a:p>
        </p:txBody>
      </p:sp>
      <p:sp>
        <p:nvSpPr>
          <p:cNvPr id="34" name="order-gate-3">
            <a:extLst xmlns:a="http://schemas.openxmlformats.org/drawingml/2006/main">
              <a:ext uri="{FF2B5EF4-FFF2-40B4-BE49-F238E27FC236}">
                <a16:creationId xmlns:a16="http://schemas.microsoft.com/office/drawing/2014/main" id="{FD99FAEE-F8D5-406B-AA9A-600EFFD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29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3478FF"/>
                </a:solidFill>
              </a:defRPr>
            </a:pPr>
            <a:r>
              <a:rPr sz="600" b="1" i="0">
                <a:solidFill>
                  <a:srgbClr val="3478FF"/>
                </a:solidFill>
              </a:rPr>
              <a:t>Exit: measured value</a:t>
            </a:r>
          </a:p>
        </p:txBody>
      </p:sp>
      <p:sp>
        <p:nvSpPr>
          <p:cNvPr id="35" name="order-stage-4">
            <a:extLst xmlns:a="http://schemas.openxmlformats.org/drawingml/2006/main">
              <a:ext uri="{FF2B5EF4-FFF2-40B4-BE49-F238E27FC236}">
                <a16:creationId xmlns:a16="http://schemas.microsoft.com/office/drawing/2014/main" id="{AE93C1FD-1084-4848-8D2C-D3D139A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16002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4"/>
          </a:solidFill>
          <a:ln xmlns:a="http://schemas.openxmlformats.org/drawingml/2006/main" w="19050">
            <a:solidFill>
              <a:srgbClr val="3478FF"/>
            </a:solidFill>
            <a:prstDash val="solid"/>
          </a:ln>
        </p:spPr>
      </p:sp>
      <p:sp>
        <p:nvSpPr>
          <p:cNvPr id="36" name="order-n-4-disc">
            <a:extLst xmlns:a="http://schemas.openxmlformats.org/drawingml/2006/main">
              <a:ext uri="{FF2B5EF4-FFF2-40B4-BE49-F238E27FC236}">
                <a16:creationId xmlns:a16="http://schemas.microsoft.com/office/drawing/2014/main" id="{89ACA523-75AB-48B0-88B0-2968CC05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rder-n-4-value">
            <a:extLst xmlns:a="http://schemas.openxmlformats.org/drawingml/2006/main">
              <a:ext uri="{FF2B5EF4-FFF2-40B4-BE49-F238E27FC236}">
                <a16:creationId xmlns:a16="http://schemas.microsoft.com/office/drawing/2014/main" id="{92627F93-C90D-4737-8631-528EE03C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336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38" name="order-label-4">
            <a:extLst xmlns:a="http://schemas.openxmlformats.org/drawingml/2006/main">
              <a:ext uri="{FF2B5EF4-FFF2-40B4-BE49-F238E27FC236}">
                <a16:creationId xmlns:a16="http://schemas.microsoft.com/office/drawing/2014/main" id="{8FEC0C91-7EAA-4A96-B201-17C9D9AE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PERCEIVE</a:t>
            </a:r>
          </a:p>
        </p:txBody>
      </p:sp>
      <p:sp>
        <p:nvSpPr>
          <p:cNvPr id="39" name="order-detail-4">
            <a:extLst xmlns:a="http://schemas.openxmlformats.org/drawingml/2006/main">
              <a:ext uri="{FF2B5EF4-FFF2-40B4-BE49-F238E27FC236}">
                <a16:creationId xmlns:a16="http://schemas.microsoft.com/office/drawing/2014/main" id="{1DD90C8E-8E2F-4A60-A220-0607E05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Tracking / coarse states</a:t>
            </a:r>
          </a:p>
        </p:txBody>
      </p:sp>
      <p:sp>
        <p:nvSpPr>
          <p:cNvPr id="40" name="order-gate-4">
            <a:extLst xmlns:a="http://schemas.openxmlformats.org/drawingml/2006/main">
              <a:ext uri="{FF2B5EF4-FFF2-40B4-BE49-F238E27FC236}">
                <a16:creationId xmlns:a16="http://schemas.microsoft.com/office/drawing/2014/main" id="{246A78AC-1EE9-4CB1-AED6-3BA90191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29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FFB13B"/>
                </a:solidFill>
              </a:defRPr>
            </a:pPr>
            <a:r>
              <a:rPr sz="600" b="1" i="0">
                <a:solidFill>
                  <a:srgbClr val="FFB13B"/>
                </a:solidFill>
              </a:rPr>
              <a:t>Exit: hard strata pass</a:t>
            </a:r>
          </a:p>
        </p:txBody>
      </p:sp>
      <p:sp>
        <p:nvSpPr>
          <p:cNvPr id="41" name="order-stage-5">
            <a:extLst xmlns:a="http://schemas.openxmlformats.org/drawingml/2006/main">
              <a:ext uri="{FF2B5EF4-FFF2-40B4-BE49-F238E27FC236}">
                <a16:creationId xmlns:a16="http://schemas.microsoft.com/office/drawing/2014/main" id="{E8976925-C608-4E25-BE51-CC37D84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86000"/>
            <a:ext cx="16002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20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42" name="order-n-5-disc">
            <a:extLst xmlns:a="http://schemas.openxmlformats.org/drawingml/2006/main">
              <a:ext uri="{FF2B5EF4-FFF2-40B4-BE49-F238E27FC236}">
                <a16:creationId xmlns:a16="http://schemas.microsoft.com/office/drawing/2014/main" id="{A654566F-06DB-40F0-BC84-AF2461A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rder-n-5-value">
            <a:extLst xmlns:a="http://schemas.openxmlformats.org/drawingml/2006/main">
              <a:ext uri="{FF2B5EF4-FFF2-40B4-BE49-F238E27FC236}">
                <a16:creationId xmlns:a16="http://schemas.microsoft.com/office/drawing/2014/main" id="{86DF8E8C-31D0-4E55-9D0D-B9531D0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05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44" name="order-label-5">
            <a:extLst xmlns:a="http://schemas.openxmlformats.org/drawingml/2006/main">
              <a:ext uri="{FF2B5EF4-FFF2-40B4-BE49-F238E27FC236}">
                <a16:creationId xmlns:a16="http://schemas.microsoft.com/office/drawing/2014/main" id="{1BFE53B8-6CCE-4CB1-A327-AFFA5BF6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RESEARCH</a:t>
            </a:r>
          </a:p>
        </p:txBody>
      </p:sp>
      <p:sp>
        <p:nvSpPr>
          <p:cNvPr id="45" name="order-detail-5">
            <a:extLst xmlns:a="http://schemas.openxmlformats.org/drawingml/2006/main">
              <a:ext uri="{FF2B5EF4-FFF2-40B4-BE49-F238E27FC236}">
                <a16:creationId xmlns:a16="http://schemas.microsoft.com/office/drawing/2014/main" id="{F471ACE2-AC93-4A95-87A2-702AC18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Technique / shadow scoring</a:t>
            </a:r>
          </a:p>
        </p:txBody>
      </p:sp>
      <p:sp>
        <p:nvSpPr>
          <p:cNvPr id="46" name="order-gate-5">
            <a:extLst xmlns:a="http://schemas.openxmlformats.org/drawingml/2006/main">
              <a:ext uri="{FF2B5EF4-FFF2-40B4-BE49-F238E27FC236}">
                <a16:creationId xmlns:a16="http://schemas.microsoft.com/office/drawing/2014/main" id="{77CA9526-1D3D-453B-916C-519B19AD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29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FF455D"/>
                </a:solidFill>
              </a:defRPr>
            </a:pPr>
            <a:r>
              <a:rPr sz="600" b="1" i="0">
                <a:solidFill>
                  <a:srgbClr val="FF455D"/>
                </a:solidFill>
              </a:rPr>
              <a:t>Exit: safe utility</a:t>
            </a:r>
          </a:p>
        </p:txBody>
      </p:sp>
      <p:sp>
        <p:nvSpPr>
          <p:cNvPr id="47" name="order-statement">
            <a:extLst xmlns:a="http://schemas.openxmlformats.org/drawingml/2006/main">
              <a:ext uri="{FF2B5EF4-FFF2-40B4-BE49-F238E27FC236}">
                <a16:creationId xmlns:a16="http://schemas.microsoft.com/office/drawing/2014/main" id="{C1CA6248-FC44-4582-8322-9B73FE0F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No phase advances because the calendar moved. It advances because the exit evidence exists.</a:t>
            </a:r>
          </a:p>
        </p:txBody>
      </p:sp>
    </p:spTree>
    <p:extLst>
      <p:ext uri="{BB962C8B-B14F-4D97-AF65-F5344CB8AC3E}">
        <p14:creationId xmlns:p14="http://schemas.microsoft.com/office/powerpoint/2010/main" val="77764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header-blue-8">
            <a:extLst xmlns:a="http://schemas.openxmlformats.org/drawingml/2006/main">
              <a:ext uri="{FF2B5EF4-FFF2-40B4-BE49-F238E27FC236}">
                <a16:creationId xmlns:a16="http://schemas.microsoft.com/office/drawing/2014/main" id="{FE9AACCC-4FC3-4261-9B0E-6AA67E9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8">
            <a:extLst xmlns:a="http://schemas.openxmlformats.org/drawingml/2006/main">
              <a:ext uri="{FF2B5EF4-FFF2-40B4-BE49-F238E27FC236}">
                <a16:creationId xmlns:a16="http://schemas.microsoft.com/office/drawing/2014/main" id="{AA85D1A6-93CA-47AF-A11E-D0B3D51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42EA"/>
                </a:solidFill>
              </a:defRPr>
            </a:pPr>
            <a:r>
              <a:rPr sz="825" b="1" i="0">
                <a:solidFill>
                  <a:srgbClr val="0042EA"/>
                </a:solidFill>
              </a:rPr>
              <a:t>DATA FLYWHEEL</a:t>
            </a:r>
          </a:p>
        </p:txBody>
      </p:sp>
      <p:sp>
        <p:nvSpPr>
          <p:cNvPr id="3" name="header-title-8">
            <a:extLst xmlns:a="http://schemas.openxmlformats.org/drawingml/2006/main">
              <a:ext uri="{FF2B5EF4-FFF2-40B4-BE49-F238E27FC236}">
                <a16:creationId xmlns:a16="http://schemas.microsoft.com/office/drawing/2014/main" id="{8CD7490A-FA26-4A25-B627-7060F09D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017"/>
                </a:solidFill>
              </a:defRPr>
            </a:pPr>
            <a:r>
              <a:rPr sz="3150" b="1" i="0">
                <a:solidFill>
                  <a:srgbClr val="0B1017"/>
                </a:solidFill>
              </a:rPr>
              <a:t>The data flywheel starts with rights, not volume</a:t>
            </a:r>
          </a:p>
        </p:txBody>
      </p:sp>
      <p:sp>
        <p:nvSpPr>
          <p:cNvPr id="4" name="header-subtitle-8">
            <a:extLst xmlns:a="http://schemas.openxmlformats.org/drawingml/2006/main">
              <a:ext uri="{FF2B5EF4-FFF2-40B4-BE49-F238E27FC236}">
                <a16:creationId xmlns:a16="http://schemas.microsoft.com/office/drawing/2014/main" id="{3BDC5888-4DBA-429E-B625-A91C9E7F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3"/>
                </a:solidFill>
              </a:defRPr>
            </a:pPr>
            <a:r>
              <a:rPr sz="1350" b="0" i="0">
                <a:solidFill>
                  <a:srgbClr val="5C6673"/>
                </a:solidFill>
              </a:rPr>
              <a:t>Product value creates governed evidence. Governed evidence earns bounded automation. Human corrections shape the next experiment.</a:t>
            </a:r>
          </a:p>
        </p:txBody>
      </p:sp>
      <p:sp>
        <p:nvSpPr>
          <p:cNvPr id="5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C82EE5F-619E-4498-9F7A-AF59192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b86f8783e423c">
            <a:extLst>
              <a:ext uri="{96DAC541-7B7A-43D3-8B79-37D633B846F1}">
                <asvg:svgBlip xmlns:asvg="http://schemas.microsoft.com/office/drawing/2016/SVG/main" r:embed="R96ec25de2a594d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B778501B-C402-452B-A9CE-931255C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1017"/>
                </a:solidFill>
              </a:defRPr>
            </a:pPr>
            <a:r>
              <a:rPr sz="900" b="1" i="0">
                <a:solidFill>
                  <a:srgbClr val="0B1017"/>
                </a:solidFill>
              </a:rPr>
              <a:t>SAPAR</a:t>
            </a:r>
          </a:p>
        </p:txBody>
      </p:sp>
      <p:sp>
        <p:nvSpPr>
          <p:cNvPr id="8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2BFF66F6-E4B2-4C01-B9B2-33DCF6D3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STRATEGIC PARTNER BRIEF / DATA FLYWHEEL</a:t>
            </a:r>
          </a:p>
        </p:txBody>
      </p:sp>
      <p:sp>
        <p:nvSpPr>
          <p:cNvPr id="9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6C6731CE-BC82-42F7-A8E7-6306A5D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08 / 14</a:t>
            </a:r>
          </a:p>
        </p:txBody>
      </p:sp>
      <p:sp>
        <p:nvSpPr>
          <p:cNvPr id="10" name="flywheel-ring">
            <a:extLst xmlns:a="http://schemas.openxmlformats.org/drawingml/2006/main">
              <a:ext uri="{FF2B5EF4-FFF2-40B4-BE49-F238E27FC236}">
                <a16:creationId xmlns:a16="http://schemas.microsoft.com/office/drawing/2014/main" id="{268EA20D-F15A-42E7-B99C-D559EB0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4724400" cy="3257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2EA"/>
            </a:solidFill>
            <a:prstDash val="solid"/>
          </a:ln>
        </p:spPr>
      </p:sp>
      <p:sp>
        <p:nvSpPr>
          <p:cNvPr id="11" name="fly-node-0">
            <a:extLst xmlns:a="http://schemas.openxmlformats.org/drawingml/2006/main">
              <a:ext uri="{FF2B5EF4-FFF2-40B4-BE49-F238E27FC236}">
                <a16:creationId xmlns:a16="http://schemas.microsoft.com/office/drawing/2014/main" id="{D0981FC9-A029-4F6A-AEA9-0EFFDED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12" name="fly-n-0-disc">
            <a:extLst xmlns:a="http://schemas.openxmlformats.org/drawingml/2006/main">
              <a:ext uri="{FF2B5EF4-FFF2-40B4-BE49-F238E27FC236}">
                <a16:creationId xmlns:a16="http://schemas.microsoft.com/office/drawing/2014/main" id="{2E8938A1-1DB3-4A62-9A98-6C0E16C1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y-n-0-value">
            <a:extLst xmlns:a="http://schemas.openxmlformats.org/drawingml/2006/main">
              <a:ext uri="{FF2B5EF4-FFF2-40B4-BE49-F238E27FC236}">
                <a16:creationId xmlns:a16="http://schemas.microsoft.com/office/drawing/2014/main" id="{64F21428-FB2F-4C07-B684-F96E193C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4" name="fly-label-0">
            <a:extLst xmlns:a="http://schemas.openxmlformats.org/drawingml/2006/main">
              <a:ext uri="{FF2B5EF4-FFF2-40B4-BE49-F238E27FC236}">
                <a16:creationId xmlns:a16="http://schemas.microsoft.com/office/drawing/2014/main" id="{7335B536-9574-4A84-9F0F-E1BC7B49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09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017"/>
                </a:solidFill>
              </a:defRPr>
            </a:pPr>
            <a:r>
              <a:rPr sz="1575" b="1" i="0">
                <a:solidFill>
                  <a:srgbClr val="0B1017"/>
                </a:solidFill>
              </a:rPr>
              <a:t>RIGHTS</a:t>
            </a:r>
          </a:p>
        </p:txBody>
      </p:sp>
      <p:sp>
        <p:nvSpPr>
          <p:cNvPr id="15" name="fly-detail-0">
            <a:extLst xmlns:a="http://schemas.openxmlformats.org/drawingml/2006/main">
              <a:ext uri="{FF2B5EF4-FFF2-40B4-BE49-F238E27FC236}">
                <a16:creationId xmlns:a16="http://schemas.microsoft.com/office/drawing/2014/main" id="{DD7FF1DE-6D4D-43F7-BEB8-1512EB21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99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purpose / consent</a:t>
            </a:r>
          </a:p>
        </p:txBody>
      </p:sp>
      <p:sp>
        <p:nvSpPr>
          <p:cNvPr id="16" name="fly-node-1">
            <a:extLst xmlns:a="http://schemas.openxmlformats.org/drawingml/2006/main">
              <a:ext uri="{FF2B5EF4-FFF2-40B4-BE49-F238E27FC236}">
                <a16:creationId xmlns:a16="http://schemas.microsoft.com/office/drawing/2014/main" id="{B11A68CF-D751-4A3F-83BC-70172FA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17" name="fly-n-1-disc">
            <a:extLst xmlns:a="http://schemas.openxmlformats.org/drawingml/2006/main">
              <a:ext uri="{FF2B5EF4-FFF2-40B4-BE49-F238E27FC236}">
                <a16:creationId xmlns:a16="http://schemas.microsoft.com/office/drawing/2014/main" id="{EE882484-57B8-4493-9F88-F682AE24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ly-n-1-value">
            <a:extLst xmlns:a="http://schemas.openxmlformats.org/drawingml/2006/main">
              <a:ext uri="{FF2B5EF4-FFF2-40B4-BE49-F238E27FC236}">
                <a16:creationId xmlns:a16="http://schemas.microsoft.com/office/drawing/2014/main" id="{2B67E60B-6FD2-4859-919F-32C86333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5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9" name="fly-label-1">
            <a:extLst xmlns:a="http://schemas.openxmlformats.org/drawingml/2006/main">
              <a:ext uri="{FF2B5EF4-FFF2-40B4-BE49-F238E27FC236}">
                <a16:creationId xmlns:a16="http://schemas.microsoft.com/office/drawing/2014/main" id="{BEF68135-36A4-465A-92F2-A481A537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28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017"/>
                </a:solidFill>
              </a:defRPr>
            </a:pPr>
            <a:r>
              <a:rPr sz="1575" b="1" i="0">
                <a:solidFill>
                  <a:srgbClr val="0B1017"/>
                </a:solidFill>
              </a:rPr>
              <a:t>CAPTURE</a:t>
            </a:r>
          </a:p>
        </p:txBody>
      </p:sp>
      <p:sp>
        <p:nvSpPr>
          <p:cNvPr id="20" name="fly-detail-1">
            <a:extLst xmlns:a="http://schemas.openxmlformats.org/drawingml/2006/main">
              <a:ext uri="{FF2B5EF4-FFF2-40B4-BE49-F238E27FC236}">
                <a16:creationId xmlns:a16="http://schemas.microsoft.com/office/drawing/2014/main" id="{0BB4828D-C3C6-4D3D-840B-1EC8930E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context / provenance</a:t>
            </a:r>
          </a:p>
        </p:txBody>
      </p:sp>
      <p:sp>
        <p:nvSpPr>
          <p:cNvPr id="21" name="fly-node-2">
            <a:extLst xmlns:a="http://schemas.openxmlformats.org/drawingml/2006/main">
              <a:ext uri="{FF2B5EF4-FFF2-40B4-BE49-F238E27FC236}">
                <a16:creationId xmlns:a16="http://schemas.microsoft.com/office/drawing/2014/main" id="{82AAB4FD-4F10-4ABD-B39D-D5362C1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22" name="fly-n-2-disc">
            <a:extLst xmlns:a="http://schemas.openxmlformats.org/drawingml/2006/main">
              <a:ext uri="{FF2B5EF4-FFF2-40B4-BE49-F238E27FC236}">
                <a16:creationId xmlns:a16="http://schemas.microsoft.com/office/drawing/2014/main" id="{858FDA71-A62D-47A0-A4BD-9415889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ly-n-2-value">
            <a:extLst xmlns:a="http://schemas.openxmlformats.org/drawingml/2006/main">
              <a:ext uri="{FF2B5EF4-FFF2-40B4-BE49-F238E27FC236}">
                <a16:creationId xmlns:a16="http://schemas.microsoft.com/office/drawing/2014/main" id="{6C2DDD03-C267-43BA-BCDE-87EBE54E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76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4" name="fly-label-2">
            <a:extLst xmlns:a="http://schemas.openxmlformats.org/drawingml/2006/main">
              <a:ext uri="{FF2B5EF4-FFF2-40B4-BE49-F238E27FC236}">
                <a16:creationId xmlns:a16="http://schemas.microsoft.com/office/drawing/2014/main" id="{6FC35C02-A035-4724-BEBA-4AAE890D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017"/>
                </a:solidFill>
              </a:defRPr>
            </a:pPr>
            <a:r>
              <a:rPr sz="1575" b="1" i="0">
                <a:solidFill>
                  <a:srgbClr val="0B1017"/>
                </a:solidFill>
              </a:rPr>
              <a:t>LABEL</a:t>
            </a:r>
          </a:p>
        </p:txBody>
      </p:sp>
      <p:sp>
        <p:nvSpPr>
          <p:cNvPr id="25" name="fly-detail-2">
            <a:extLst xmlns:a="http://schemas.openxmlformats.org/drawingml/2006/main">
              <a:ext uri="{FF2B5EF4-FFF2-40B4-BE49-F238E27FC236}">
                <a16:creationId xmlns:a16="http://schemas.microsoft.com/office/drawing/2014/main" id="{97C3696A-B515-4A20-93CC-FFCF7AF4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99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expert / unknown</a:t>
            </a:r>
          </a:p>
        </p:txBody>
      </p:sp>
      <p:sp>
        <p:nvSpPr>
          <p:cNvPr id="26" name="fly-node-3">
            <a:extLst xmlns:a="http://schemas.openxmlformats.org/drawingml/2006/main">
              <a:ext uri="{FF2B5EF4-FFF2-40B4-BE49-F238E27FC236}">
                <a16:creationId xmlns:a16="http://schemas.microsoft.com/office/drawing/2014/main" id="{D2826A54-8DEE-4C0A-8BD2-2613CE27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27" name="fly-n-3-disc">
            <a:extLst xmlns:a="http://schemas.openxmlformats.org/drawingml/2006/main">
              <a:ext uri="{FF2B5EF4-FFF2-40B4-BE49-F238E27FC236}">
                <a16:creationId xmlns:a16="http://schemas.microsoft.com/office/drawing/2014/main" id="{FF1F0020-8160-4EAD-A7A6-B14ACF02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y-n-3-value">
            <a:extLst xmlns:a="http://schemas.openxmlformats.org/drawingml/2006/main">
              <a:ext uri="{FF2B5EF4-FFF2-40B4-BE49-F238E27FC236}">
                <a16:creationId xmlns:a16="http://schemas.microsoft.com/office/drawing/2014/main" id="{CDEB9C8F-6611-4638-956A-B1DBEF21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720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29" name="fly-label-3">
            <a:extLst xmlns:a="http://schemas.openxmlformats.org/drawingml/2006/main">
              <a:ext uri="{FF2B5EF4-FFF2-40B4-BE49-F238E27FC236}">
                <a16:creationId xmlns:a16="http://schemas.microsoft.com/office/drawing/2014/main" id="{D53287E7-17CA-4DDF-9907-FE17B77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017"/>
                </a:solidFill>
              </a:defRPr>
            </a:pPr>
            <a:r>
              <a:rPr sz="1575" b="1" i="0">
                <a:solidFill>
                  <a:srgbClr val="0B1017"/>
                </a:solidFill>
              </a:rPr>
              <a:t>EVALUATE</a:t>
            </a:r>
          </a:p>
        </p:txBody>
      </p:sp>
      <p:sp>
        <p:nvSpPr>
          <p:cNvPr id="30" name="fly-detail-3">
            <a:extLst xmlns:a="http://schemas.openxmlformats.org/drawingml/2006/main">
              <a:ext uri="{FF2B5EF4-FFF2-40B4-BE49-F238E27FC236}">
                <a16:creationId xmlns:a16="http://schemas.microsoft.com/office/drawing/2014/main" id="{BF25AF8B-431D-4FA8-9368-BC32ABB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05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holdouts / severe errors</a:t>
            </a:r>
          </a:p>
        </p:txBody>
      </p:sp>
      <p:sp>
        <p:nvSpPr>
          <p:cNvPr id="31" name="fly-node-4">
            <a:extLst xmlns:a="http://schemas.openxmlformats.org/drawingml/2006/main">
              <a:ext uri="{FF2B5EF4-FFF2-40B4-BE49-F238E27FC236}">
                <a16:creationId xmlns:a16="http://schemas.microsoft.com/office/drawing/2014/main" id="{8CA2A85A-3844-405D-8EEA-E8DA6620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244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32" name="fly-n-4-disc">
            <a:extLst xmlns:a="http://schemas.openxmlformats.org/drawingml/2006/main">
              <a:ext uri="{FF2B5EF4-FFF2-40B4-BE49-F238E27FC236}">
                <a16:creationId xmlns:a16="http://schemas.microsoft.com/office/drawing/2014/main" id="{86B29EF5-0129-4151-8489-7FF39573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76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y-n-4-value">
            <a:extLst xmlns:a="http://schemas.openxmlformats.org/drawingml/2006/main">
              <a:ext uri="{FF2B5EF4-FFF2-40B4-BE49-F238E27FC236}">
                <a16:creationId xmlns:a16="http://schemas.microsoft.com/office/drawing/2014/main" id="{3B584FBD-EB60-459A-9CE6-7C3C0A7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43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34" name="fly-label-4">
            <a:extLst xmlns:a="http://schemas.openxmlformats.org/drawingml/2006/main">
              <a:ext uri="{FF2B5EF4-FFF2-40B4-BE49-F238E27FC236}">
                <a16:creationId xmlns:a16="http://schemas.microsoft.com/office/drawing/2014/main" id="{1C5027E0-2F7B-441C-B280-6A85AE35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768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017"/>
                </a:solidFill>
              </a:defRPr>
            </a:pPr>
            <a:r>
              <a:rPr sz="1575" b="1" i="0">
                <a:solidFill>
                  <a:srgbClr val="0B1017"/>
                </a:solidFill>
              </a:rPr>
              <a:t>ASSIST</a:t>
            </a:r>
          </a:p>
        </p:txBody>
      </p:sp>
      <p:sp>
        <p:nvSpPr>
          <p:cNvPr id="35" name="fly-detail-4">
            <a:extLst xmlns:a="http://schemas.openxmlformats.org/drawingml/2006/main">
              <a:ext uri="{FF2B5EF4-FFF2-40B4-BE49-F238E27FC236}">
                <a16:creationId xmlns:a16="http://schemas.microsoft.com/office/drawing/2014/main" id="{9181CE0E-99B2-4035-9CFB-2BDAC8CE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769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shadow / review</a:t>
            </a:r>
          </a:p>
        </p:txBody>
      </p:sp>
      <p:sp>
        <p:nvSpPr>
          <p:cNvPr id="36" name="fly-node-5">
            <a:extLst xmlns:a="http://schemas.openxmlformats.org/drawingml/2006/main">
              <a:ext uri="{FF2B5EF4-FFF2-40B4-BE49-F238E27FC236}">
                <a16:creationId xmlns:a16="http://schemas.microsoft.com/office/drawing/2014/main" id="{C5FEFDB9-2365-4429-BCE4-6034ABB8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2"/>
            </a:solidFill>
            <a:prstDash val="solid"/>
          </a:ln>
        </p:spPr>
      </p:sp>
      <p:sp>
        <p:nvSpPr>
          <p:cNvPr id="37" name="fly-n-5-disc">
            <a:extLst xmlns:a="http://schemas.openxmlformats.org/drawingml/2006/main">
              <a:ext uri="{FF2B5EF4-FFF2-40B4-BE49-F238E27FC236}">
                <a16:creationId xmlns:a16="http://schemas.microsoft.com/office/drawing/2014/main" id="{1AB08850-EA82-4F54-8196-48FD580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ly-n-5-value">
            <a:extLst xmlns:a="http://schemas.openxmlformats.org/drawingml/2006/main">
              <a:ext uri="{FF2B5EF4-FFF2-40B4-BE49-F238E27FC236}">
                <a16:creationId xmlns:a16="http://schemas.microsoft.com/office/drawing/2014/main" id="{64816140-226C-4B02-B5C7-575E9722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720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39" name="fly-label-5">
            <a:extLst xmlns:a="http://schemas.openxmlformats.org/drawingml/2006/main">
              <a:ext uri="{FF2B5EF4-FFF2-40B4-BE49-F238E27FC236}">
                <a16:creationId xmlns:a16="http://schemas.microsoft.com/office/drawing/2014/main" id="{32BB4F6E-F948-42DC-9AD6-8C8066DE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05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017"/>
                </a:solidFill>
              </a:defRPr>
            </a:pPr>
            <a:r>
              <a:rPr sz="1575" b="1" i="0">
                <a:solidFill>
                  <a:srgbClr val="0B1017"/>
                </a:solidFill>
              </a:rPr>
              <a:t>CORRECT</a:t>
            </a:r>
          </a:p>
        </p:txBody>
      </p:sp>
      <p:sp>
        <p:nvSpPr>
          <p:cNvPr id="40" name="fly-detail-5">
            <a:extLst xmlns:a="http://schemas.openxmlformats.org/drawingml/2006/main">
              <a:ext uri="{FF2B5EF4-FFF2-40B4-BE49-F238E27FC236}">
                <a16:creationId xmlns:a16="http://schemas.microsoft.com/office/drawing/2014/main" id="{A2654318-319D-45E3-B6F3-C789D17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05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feedback / deletion</a:t>
            </a:r>
          </a:p>
        </p:txBody>
      </p:sp>
      <p:sp>
        <p:nvSpPr>
          <p:cNvPr id="41" name="fly-center">
            <a:extLst xmlns:a="http://schemas.openxmlformats.org/drawingml/2006/main">
              <a:ext uri="{FF2B5EF4-FFF2-40B4-BE49-F238E27FC236}">
                <a16:creationId xmlns:a16="http://schemas.microsoft.com/office/drawing/2014/main" id="{72B75C33-1BF7-4E74-9EE9-4806247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71825"/>
            <a:ext cx="3467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017"/>
                </a:solidFill>
              </a:defRPr>
            </a:pPr>
            <a:r>
              <a:rPr sz="2250" b="1" i="0">
                <a:solidFill>
                  <a:srgbClr val="0B1017"/>
                </a:solidFill>
              </a:rPr>
              <a:t>EVERY CORRECTION</a:t>
            </a:r>
          </a:p>
          <a:p xmlns:a="http://schemas.openxmlformats.org/drawingml/2006/main">
            <a:pPr algn="ctr">
              <a:defRPr sz="2250" b="1" i="0">
                <a:solidFill>
                  <a:srgbClr val="0B1017"/>
                </a:solidFill>
              </a:defRPr>
            </a:pPr>
            <a:r>
              <a:rPr sz="2250" b="1" i="0">
                <a:solidFill>
                  <a:srgbClr val="0B1017"/>
                </a:solidFill>
              </a:rPr>
              <a:t>IMPROVES EVIDENCE</a:t>
            </a:r>
          </a:p>
          <a:p xmlns:a="http://schemas.openxmlformats.org/drawingml/2006/main">
            <a:pPr algn="ctr">
              <a:defRPr sz="2250" b="1" i="0">
                <a:solidFill>
                  <a:srgbClr val="0B1017"/>
                </a:solidFill>
              </a:defRPr>
            </a:pPr>
            <a:r>
              <a:rPr sz="2250" b="1" i="0">
                <a:solidFill>
                  <a:srgbClr val="0B1017"/>
                </a:solidFill>
              </a:rPr>
              <a:t>NOT AUTHORITY</a:t>
            </a:r>
          </a:p>
        </p:txBody>
      </p:sp>
      <p:sp>
        <p:nvSpPr>
          <p:cNvPr id="42" name="fly-center-small">
            <a:extLst xmlns:a="http://schemas.openxmlformats.org/drawingml/2006/main">
              <a:ext uri="{FF2B5EF4-FFF2-40B4-BE49-F238E27FC236}">
                <a16:creationId xmlns:a16="http://schemas.microsoft.com/office/drawing/2014/main" id="{CDB60977-408C-41D2-A209-FC80D66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0042EA"/>
                </a:solidFill>
              </a:defRPr>
            </a:pPr>
            <a:r>
              <a:rPr sz="750" b="0" i="0">
                <a:solidFill>
                  <a:srgbClr val="0042EA"/>
                </a:solidFill>
              </a:rPr>
              <a:t>model proposals remain derived and reviewable</a:t>
            </a:r>
          </a:p>
        </p:txBody>
      </p:sp>
    </p:spTree>
    <p:extLst>
      <p:ext uri="{BB962C8B-B14F-4D97-AF65-F5344CB8AC3E}">
        <p14:creationId xmlns:p14="http://schemas.microsoft.com/office/powerpoint/2010/main" val="174510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header-blue-9">
            <a:extLst xmlns:a="http://schemas.openxmlformats.org/drawingml/2006/main">
              <a:ext uri="{FF2B5EF4-FFF2-40B4-BE49-F238E27FC236}">
                <a16:creationId xmlns:a16="http://schemas.microsoft.com/office/drawing/2014/main" id="{26F2E0F8-1679-4152-A07D-FBC5C32C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9">
            <a:extLst xmlns:a="http://schemas.openxmlformats.org/drawingml/2006/main">
              <a:ext uri="{FF2B5EF4-FFF2-40B4-BE49-F238E27FC236}">
                <a16:creationId xmlns:a16="http://schemas.microsoft.com/office/drawing/2014/main" id="{3CF3EEF0-F6EF-4D84-AAFD-191A8D2B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AI VALIDATION</a:t>
            </a:r>
          </a:p>
        </p:txBody>
      </p:sp>
      <p:sp>
        <p:nvSpPr>
          <p:cNvPr id="3" name="header-title-9">
            <a:extLst xmlns:a="http://schemas.openxmlformats.org/drawingml/2006/main">
              <a:ext uri="{FF2B5EF4-FFF2-40B4-BE49-F238E27FC236}">
                <a16:creationId xmlns:a16="http://schemas.microsoft.com/office/drawing/2014/main" id="{E108ADFA-715C-49A2-A01E-B3A3B60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Body tracking is a validation ladder, not a launch feature</a:t>
            </a:r>
          </a:p>
        </p:txBody>
      </p:sp>
      <p:sp>
        <p:nvSpPr>
          <p:cNvPr id="4" name="header-subtitle-9">
            <a:extLst xmlns:a="http://schemas.openxmlformats.org/drawingml/2006/main">
              <a:ext uri="{FF2B5EF4-FFF2-40B4-BE49-F238E27FC236}">
                <a16:creationId xmlns:a16="http://schemas.microsoft.com/office/drawing/2014/main" id="{5D1FE8AA-E151-4E7D-AEA1-82DF9FC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Close contact, occlusion, changing cameras, rulesets, and identity swaps make grappling harder than generic sports tracking.</a:t>
            </a:r>
          </a:p>
        </p:txBody>
      </p:sp>
      <p:sp>
        <p:nvSpPr>
          <p:cNvPr id="5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76C49707-C09E-46CA-9C14-B2F6E85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6677c43994016">
            <a:extLst>
              <a:ext uri="{96DAC541-7B7A-43D3-8B79-37D633B846F1}">
                <asvg:svgBlip xmlns:asvg="http://schemas.microsoft.com/office/drawing/2016/SVG/main" r:embed="R51901792ad0a4c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337CBBC-68A1-4870-ACE0-B473FCF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02A9FD6A-B111-4D06-9207-6062D164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AI VALIDATION</a:t>
            </a:r>
          </a:p>
        </p:txBody>
      </p:sp>
      <p:sp>
        <p:nvSpPr>
          <p:cNvPr id="9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EF03DF45-EFEA-4A78-8F32-D1994439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09 / 14</a:t>
            </a:r>
          </a:p>
        </p:txBody>
      </p:sp>
      <p:sp>
        <p:nvSpPr>
          <p:cNvPr id="10" name="vision-frame">
            <a:extLst xmlns:a="http://schemas.openxmlformats.org/drawingml/2006/main">
              <a:ext uri="{FF2B5EF4-FFF2-40B4-BE49-F238E27FC236}">
                <a16:creationId xmlns:a16="http://schemas.microsoft.com/office/drawing/2014/main" id="{AFF3059D-7B28-45B2-85C0-8BFC4209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ea4fb61ee41a8"/>
          <a:srcRect xmlns:a="http://schemas.openxmlformats.org/drawingml/2006/main" l="0" t="288" r="0" b="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571750"/>
            <a:ext cx="3219450" cy="215265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sp>
        <p:nvSpPr>
          <p:cNvPr id="12" name="vision-brand-mask">
            <a:extLst xmlns:a="http://schemas.openxmlformats.org/drawingml/2006/main">
              <a:ext uri="{FF2B5EF4-FFF2-40B4-BE49-F238E27FC236}">
                <a16:creationId xmlns:a16="http://schemas.microsoft.com/office/drawing/2014/main" id="{41605655-A4A6-4631-9899-9C6557D5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21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ion-brand-mask-text">
            <a:extLst xmlns:a="http://schemas.openxmlformats.org/drawingml/2006/main">
              <a:ext uri="{FF2B5EF4-FFF2-40B4-BE49-F238E27FC236}">
                <a16:creationId xmlns:a16="http://schemas.microsoft.com/office/drawing/2014/main" id="{E441C19C-7208-4322-BEB9-518C604D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478FF"/>
                </a:solidFill>
              </a:defRPr>
            </a:pPr>
            <a:r>
              <a:rPr sz="750" b="1" i="0">
                <a:solidFill>
                  <a:srgbClr val="3478FF"/>
                </a:solidFill>
              </a:rPr>
              <a:t>SAPAR / BODY TRACKING RESEARCH</a:t>
            </a:r>
          </a:p>
        </p:txBody>
      </p:sp>
      <p:sp>
        <p:nvSpPr>
          <p:cNvPr id="14" name="vision-status-field">
            <a:extLst xmlns:a="http://schemas.openxmlformats.org/drawingml/2006/main">
              <a:ext uri="{FF2B5EF4-FFF2-40B4-BE49-F238E27FC236}">
                <a16:creationId xmlns:a16="http://schemas.microsoft.com/office/drawing/2014/main" id="{FFE70730-BA90-4F08-9A50-3A16C77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ision-status-text">
            <a:extLst xmlns:a="http://schemas.openxmlformats.org/drawingml/2006/main">
              <a:ext uri="{FF2B5EF4-FFF2-40B4-BE49-F238E27FC236}">
                <a16:creationId xmlns:a16="http://schemas.microsoft.com/office/drawing/2014/main" id="{D59C9FE5-D126-4392-8CE5-7460ACB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8FAFC"/>
                </a:solidFill>
              </a:defRPr>
            </a:pPr>
            <a:r>
              <a:rPr sz="750" b="1" i="0">
                <a:solidFill>
                  <a:srgbClr val="F8FAFC"/>
                </a:solidFill>
              </a:rPr>
              <a:t>EXISTING CONCEPT IMAGE - VALIDATION REQUIRED</a:t>
            </a:r>
          </a:p>
        </p:txBody>
      </p:sp>
      <p:sp>
        <p:nvSpPr>
          <p:cNvPr id="16" name="vision-boundary">
            <a:extLst xmlns:a="http://schemas.openxmlformats.org/drawingml/2006/main">
              <a:ext uri="{FF2B5EF4-FFF2-40B4-BE49-F238E27FC236}">
                <a16:creationId xmlns:a16="http://schemas.microsoft.com/office/drawing/2014/main" id="{FE4FBA41-DE17-4280-A8A1-AB007250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6AFBC"/>
                </a:solidFill>
              </a:defRPr>
            </a:pPr>
            <a:r>
              <a:rPr sz="1125" b="0" i="0">
                <a:solidFill>
                  <a:srgbClr val="A6AFBC"/>
                </a:solidFill>
              </a:rPr>
              <a:t>A visual concept does not establish tracking, technique, or scoring accuracy.</a:t>
            </a:r>
          </a:p>
        </p:txBody>
      </p:sp>
      <p:sp>
        <p:nvSpPr>
          <p:cNvPr id="17" name="ladder-0">
            <a:extLst xmlns:a="http://schemas.openxmlformats.org/drawingml/2006/main">
              <a:ext uri="{FF2B5EF4-FFF2-40B4-BE49-F238E27FC236}">
                <a16:creationId xmlns:a16="http://schemas.microsoft.com/office/drawing/2014/main" id="{8EE5404F-8BA6-40C7-85B5-747BF6BB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1200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19050">
            <a:solidFill>
              <a:srgbClr val="3478FF"/>
            </a:solidFill>
            <a:prstDash val="solid"/>
          </a:ln>
        </p:spPr>
      </p:sp>
      <p:sp>
        <p:nvSpPr>
          <p:cNvPr id="18" name="ladder-letter-0">
            <a:extLst xmlns:a="http://schemas.openxmlformats.org/drawingml/2006/main">
              <a:ext uri="{FF2B5EF4-FFF2-40B4-BE49-F238E27FC236}">
                <a16:creationId xmlns:a16="http://schemas.microsoft.com/office/drawing/2014/main" id="{B0A2727D-2BD0-45DA-AB34-5EB878E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38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78FF"/>
                </a:solidFill>
              </a:defRPr>
            </a:pPr>
            <a:r>
              <a:rPr sz="1125" b="1" i="0">
                <a:solidFill>
                  <a:srgbClr val="3478FF"/>
                </a:solidFill>
              </a:rPr>
              <a:t>A</a:t>
            </a:r>
          </a:p>
        </p:txBody>
      </p:sp>
      <p:sp>
        <p:nvSpPr>
          <p:cNvPr id="19" name="ladder-label-0">
            <a:extLst xmlns:a="http://schemas.openxmlformats.org/drawingml/2006/main">
              <a:ext uri="{FF2B5EF4-FFF2-40B4-BE49-F238E27FC236}">
                <a16:creationId xmlns:a16="http://schemas.microsoft.com/office/drawing/2014/main" id="{1AAF2ABB-E047-4BED-90F5-A40341F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38650"/>
            <a:ext cx="93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</a:defRPr>
            </a:pPr>
            <a:r>
              <a:rPr sz="1050" b="1" i="0">
                <a:solidFill>
                  <a:srgbClr val="F8FAFC"/>
                </a:solidFill>
              </a:rPr>
              <a:t>CAPTURE</a:t>
            </a:r>
          </a:p>
        </p:txBody>
      </p:sp>
      <p:sp>
        <p:nvSpPr>
          <p:cNvPr id="20" name="ladder-gate-0">
            <a:extLst xmlns:a="http://schemas.openxmlformats.org/drawingml/2006/main">
              <a:ext uri="{FF2B5EF4-FFF2-40B4-BE49-F238E27FC236}">
                <a16:creationId xmlns:a16="http://schemas.microsoft.com/office/drawing/2014/main" id="{DEC7EF8B-E69D-4F47-9501-DEE11A4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fixed + phone views</a:t>
            </a:r>
          </a:p>
        </p:txBody>
      </p:sp>
      <p:sp>
        <p:nvSpPr>
          <p:cNvPr id="21" name="ladder-1">
            <a:extLst xmlns:a="http://schemas.openxmlformats.org/drawingml/2006/main">
              <a:ext uri="{FF2B5EF4-FFF2-40B4-BE49-F238E27FC236}">
                <a16:creationId xmlns:a16="http://schemas.microsoft.com/office/drawing/2014/main" id="{FC27B757-692A-461B-B301-4FDB3682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200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19050">
            <a:solidFill>
              <a:srgbClr val="3478FF"/>
            </a:solidFill>
            <a:prstDash val="solid"/>
          </a:ln>
        </p:spPr>
      </p:sp>
      <p:sp>
        <p:nvSpPr>
          <p:cNvPr id="22" name="ladder-letter-1">
            <a:extLst xmlns:a="http://schemas.openxmlformats.org/drawingml/2006/main">
              <a:ext uri="{FF2B5EF4-FFF2-40B4-BE49-F238E27FC236}">
                <a16:creationId xmlns:a16="http://schemas.microsoft.com/office/drawing/2014/main" id="{DB815B42-6223-40AA-B893-3A915BC5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78FF"/>
                </a:solidFill>
              </a:defRPr>
            </a:pPr>
            <a:r>
              <a:rPr sz="1125" b="1" i="0">
                <a:solidFill>
                  <a:srgbClr val="3478FF"/>
                </a:solidFill>
              </a:rPr>
              <a:t>B</a:t>
            </a:r>
          </a:p>
        </p:txBody>
      </p:sp>
      <p:sp>
        <p:nvSpPr>
          <p:cNvPr id="23" name="ladder-label-1">
            <a:extLst xmlns:a="http://schemas.openxmlformats.org/drawingml/2006/main">
              <a:ext uri="{FF2B5EF4-FFF2-40B4-BE49-F238E27FC236}">
                <a16:creationId xmlns:a16="http://schemas.microsoft.com/office/drawing/2014/main" id="{580D7752-4AD8-46CD-80EB-6F227B9D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93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</a:defRPr>
            </a:pPr>
            <a:r>
              <a:rPr sz="1050" b="1" i="0">
                <a:solidFill>
                  <a:srgbClr val="F8FAFC"/>
                </a:solidFill>
              </a:rPr>
              <a:t>TRACK</a:t>
            </a:r>
          </a:p>
        </p:txBody>
      </p:sp>
      <p:sp>
        <p:nvSpPr>
          <p:cNvPr id="24" name="ladder-gate-1">
            <a:extLst xmlns:a="http://schemas.openxmlformats.org/drawingml/2006/main">
              <a:ext uri="{FF2B5EF4-FFF2-40B4-BE49-F238E27FC236}">
                <a16:creationId xmlns:a16="http://schemas.microsoft.com/office/drawing/2014/main" id="{88C5B71A-D648-4A62-B05D-0C8EF9D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identity continuity</a:t>
            </a:r>
          </a:p>
        </p:txBody>
      </p:sp>
      <p:sp>
        <p:nvSpPr>
          <p:cNvPr id="25" name="ladder-2">
            <a:extLst xmlns:a="http://schemas.openxmlformats.org/drawingml/2006/main">
              <a:ext uri="{FF2B5EF4-FFF2-40B4-BE49-F238E27FC236}">
                <a16:creationId xmlns:a16="http://schemas.microsoft.com/office/drawing/2014/main" id="{EE058D41-1489-4F35-897C-D7E85D08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200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19050">
            <a:solidFill>
              <a:srgbClr val="FFB13B"/>
            </a:solidFill>
            <a:prstDash val="solid"/>
          </a:ln>
        </p:spPr>
      </p:sp>
      <p:sp>
        <p:nvSpPr>
          <p:cNvPr id="26" name="ladder-letter-2">
            <a:extLst xmlns:a="http://schemas.openxmlformats.org/drawingml/2006/main">
              <a:ext uri="{FF2B5EF4-FFF2-40B4-BE49-F238E27FC236}">
                <a16:creationId xmlns:a16="http://schemas.microsoft.com/office/drawing/2014/main" id="{474BF1F5-2793-4697-806E-A7A3E22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B13B"/>
                </a:solidFill>
              </a:defRPr>
            </a:pPr>
            <a:r>
              <a:rPr sz="1125" b="1" i="0">
                <a:solidFill>
                  <a:srgbClr val="FFB13B"/>
                </a:solidFill>
              </a:rPr>
              <a:t>C</a:t>
            </a:r>
          </a:p>
        </p:txBody>
      </p:sp>
      <p:sp>
        <p:nvSpPr>
          <p:cNvPr id="27" name="ladder-label-2">
            <a:extLst xmlns:a="http://schemas.openxmlformats.org/drawingml/2006/main">
              <a:ext uri="{FF2B5EF4-FFF2-40B4-BE49-F238E27FC236}">
                <a16:creationId xmlns:a16="http://schemas.microsoft.com/office/drawing/2014/main" id="{FC3F0544-34A2-4490-B043-07F037CE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93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</a:defRPr>
            </a:pPr>
            <a:r>
              <a:rPr sz="1050" b="1" i="0">
                <a:solidFill>
                  <a:srgbClr val="F8FAFC"/>
                </a:solidFill>
              </a:rPr>
              <a:t>STATES</a:t>
            </a:r>
          </a:p>
        </p:txBody>
      </p:sp>
      <p:sp>
        <p:nvSpPr>
          <p:cNvPr id="28" name="ladder-gate-2">
            <a:extLst xmlns:a="http://schemas.openxmlformats.org/drawingml/2006/main">
              <a:ext uri="{FF2B5EF4-FFF2-40B4-BE49-F238E27FC236}">
                <a16:creationId xmlns:a16="http://schemas.microsoft.com/office/drawing/2014/main" id="{742C09F9-0667-4810-BD3D-8AD2D07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054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coarse + abstain</a:t>
            </a:r>
          </a:p>
        </p:txBody>
      </p:sp>
      <p:sp>
        <p:nvSpPr>
          <p:cNvPr id="29" name="ladder-3">
            <a:extLst xmlns:a="http://schemas.openxmlformats.org/drawingml/2006/main">
              <a:ext uri="{FF2B5EF4-FFF2-40B4-BE49-F238E27FC236}">
                <a16:creationId xmlns:a16="http://schemas.microsoft.com/office/drawing/2014/main" id="{082DA12A-8FE3-416F-B5B5-A795E17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1200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19050">
            <a:solidFill>
              <a:srgbClr val="FFB13B"/>
            </a:solidFill>
            <a:prstDash val="solid"/>
          </a:ln>
        </p:spPr>
      </p:sp>
      <p:sp>
        <p:nvSpPr>
          <p:cNvPr id="30" name="ladder-letter-3">
            <a:extLst xmlns:a="http://schemas.openxmlformats.org/drawingml/2006/main">
              <a:ext uri="{FF2B5EF4-FFF2-40B4-BE49-F238E27FC236}">
                <a16:creationId xmlns:a16="http://schemas.microsoft.com/office/drawing/2014/main" id="{FEF7C69A-EA3A-41F4-B688-3F49AFD3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B13B"/>
                </a:solidFill>
              </a:defRPr>
            </a:pPr>
            <a:r>
              <a:rPr sz="1125" b="1" i="0">
                <a:solidFill>
                  <a:srgbClr val="FFB13B"/>
                </a:solidFill>
              </a:rPr>
              <a:t>D</a:t>
            </a:r>
          </a:p>
        </p:txBody>
      </p:sp>
      <p:sp>
        <p:nvSpPr>
          <p:cNvPr id="31" name="ladder-label-3">
            <a:extLst xmlns:a="http://schemas.openxmlformats.org/drawingml/2006/main">
              <a:ext uri="{FF2B5EF4-FFF2-40B4-BE49-F238E27FC236}">
                <a16:creationId xmlns:a16="http://schemas.microsoft.com/office/drawing/2014/main" id="{991D4422-738E-4F04-818E-EBB2363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93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</a:defRPr>
            </a:pPr>
            <a:r>
              <a:rPr sz="1050" b="1" i="0">
                <a:solidFill>
                  <a:srgbClr val="F8FAFC"/>
                </a:solidFill>
              </a:rPr>
              <a:t>LABELS</a:t>
            </a:r>
          </a:p>
        </p:txBody>
      </p:sp>
      <p:sp>
        <p:nvSpPr>
          <p:cNvPr id="32" name="ladder-gate-3">
            <a:extLst xmlns:a="http://schemas.openxmlformats.org/drawingml/2006/main">
              <a:ext uri="{FF2B5EF4-FFF2-40B4-BE49-F238E27FC236}">
                <a16:creationId xmlns:a16="http://schemas.microsoft.com/office/drawing/2014/main" id="{4B031B86-3E6F-46CD-8AD9-7E3369B9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054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small ontology + holdouts</a:t>
            </a:r>
          </a:p>
        </p:txBody>
      </p:sp>
      <p:sp>
        <p:nvSpPr>
          <p:cNvPr id="33" name="ladder-4">
            <a:extLst xmlns:a="http://schemas.openxmlformats.org/drawingml/2006/main">
              <a:ext uri="{FF2B5EF4-FFF2-40B4-BE49-F238E27FC236}">
                <a16:creationId xmlns:a16="http://schemas.microsoft.com/office/drawing/2014/main" id="{E4A2D142-E9C1-4610-814A-69EDD0EF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1200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19050">
            <a:solidFill>
              <a:srgbClr val="FF455D"/>
            </a:solidFill>
            <a:prstDash val="solid"/>
          </a:ln>
        </p:spPr>
      </p:sp>
      <p:sp>
        <p:nvSpPr>
          <p:cNvPr id="34" name="ladder-letter-4">
            <a:extLst xmlns:a="http://schemas.openxmlformats.org/drawingml/2006/main">
              <a:ext uri="{FF2B5EF4-FFF2-40B4-BE49-F238E27FC236}">
                <a16:creationId xmlns:a16="http://schemas.microsoft.com/office/drawing/2014/main" id="{5D4F4868-FA5F-48C0-82A3-0D93DD2D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33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455D"/>
                </a:solidFill>
              </a:defRPr>
            </a:pPr>
            <a:r>
              <a:rPr sz="1125" b="1" i="0">
                <a:solidFill>
                  <a:srgbClr val="FF455D"/>
                </a:solidFill>
              </a:rPr>
              <a:t>E</a:t>
            </a:r>
          </a:p>
        </p:txBody>
      </p:sp>
      <p:sp>
        <p:nvSpPr>
          <p:cNvPr id="35" name="ladder-label-4">
            <a:extLst xmlns:a="http://schemas.openxmlformats.org/drawingml/2006/main">
              <a:ext uri="{FF2B5EF4-FFF2-40B4-BE49-F238E27FC236}">
                <a16:creationId xmlns:a16="http://schemas.microsoft.com/office/drawing/2014/main" id="{BC107297-9068-49DD-A351-C58B3B2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93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</a:defRPr>
            </a:pPr>
            <a:r>
              <a:rPr sz="1050" b="1" i="0">
                <a:solidFill>
                  <a:srgbClr val="F8FAFC"/>
                </a:solidFill>
              </a:rPr>
              <a:t>SHADOW</a:t>
            </a:r>
          </a:p>
        </p:txBody>
      </p:sp>
      <p:sp>
        <p:nvSpPr>
          <p:cNvPr id="36" name="ladder-gate-4">
            <a:extLst xmlns:a="http://schemas.openxmlformats.org/drawingml/2006/main">
              <a:ext uri="{FF2B5EF4-FFF2-40B4-BE49-F238E27FC236}">
                <a16:creationId xmlns:a16="http://schemas.microsoft.com/office/drawing/2014/main" id="{4C833F00-9141-4E50-B5AF-3D3D35C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1054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human decision remains official</a:t>
            </a:r>
          </a:p>
        </p:txBody>
      </p:sp>
      <p:sp>
        <p:nvSpPr>
          <p:cNvPr id="37" name="ladder-stop">
            <a:extLst xmlns:a="http://schemas.openxmlformats.org/drawingml/2006/main">
              <a:ext uri="{FF2B5EF4-FFF2-40B4-BE49-F238E27FC236}">
                <a16:creationId xmlns:a16="http://schemas.microsoft.com/office/drawing/2014/main" id="{DA067DB3-B94D-437D-B7B3-6FC6416E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619750"/>
            <a:ext cx="661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dder-stop-text">
            <a:extLst xmlns:a="http://schemas.openxmlformats.org/drawingml/2006/main">
              <a:ext uri="{FF2B5EF4-FFF2-40B4-BE49-F238E27FC236}">
                <a16:creationId xmlns:a16="http://schemas.microsoft.com/office/drawing/2014/main" id="{EEC75A5E-6254-4616-BCB2-874B5BB0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15000"/>
            <a:ext cx="634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8FAFC"/>
                </a:solidFill>
              </a:defRPr>
            </a:pPr>
            <a:r>
              <a:rPr sz="675" b="1" i="0">
                <a:solidFill>
                  <a:srgbClr val="F8FAFC"/>
                </a:solidFill>
              </a:rPr>
              <a:t>STOP: AUTONOMOUS OFFICIAL SCORING UNTIL SAFETY, GENERALIZATION, AND AUTHORITY GATES PASS</a:t>
            </a:r>
          </a:p>
        </p:txBody>
      </p:sp>
    </p:spTree>
    <p:extLst>
      <p:ext uri="{BB962C8B-B14F-4D97-AF65-F5344CB8AC3E}">
        <p14:creationId xmlns:p14="http://schemas.microsoft.com/office/powerpoint/2010/main" val="1193387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header-blue-10">
            <a:extLst xmlns:a="http://schemas.openxmlformats.org/drawingml/2006/main">
              <a:ext uri="{FF2B5EF4-FFF2-40B4-BE49-F238E27FC236}">
                <a16:creationId xmlns:a16="http://schemas.microsoft.com/office/drawing/2014/main" id="{4DFEB548-F688-46CE-887D-DF53F331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10">
            <a:extLst xmlns:a="http://schemas.openxmlformats.org/drawingml/2006/main">
              <a:ext uri="{FF2B5EF4-FFF2-40B4-BE49-F238E27FC236}">
                <a16:creationId xmlns:a16="http://schemas.microsoft.com/office/drawing/2014/main" id="{24BF46AD-9E31-42B6-B080-A55D12D6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42EA"/>
                </a:solidFill>
              </a:defRPr>
            </a:pPr>
            <a:r>
              <a:rPr sz="825" b="1" i="0">
                <a:solidFill>
                  <a:srgbClr val="0042EA"/>
                </a:solidFill>
              </a:rPr>
              <a:t>CANDIDATE ACCELERATOR</a:t>
            </a:r>
          </a:p>
        </p:txBody>
      </p:sp>
      <p:sp>
        <p:nvSpPr>
          <p:cNvPr id="3" name="header-title-10">
            <a:extLst xmlns:a="http://schemas.openxmlformats.org/drawingml/2006/main">
              <a:ext uri="{FF2B5EF4-FFF2-40B4-BE49-F238E27FC236}">
                <a16:creationId xmlns:a16="http://schemas.microsoft.com/office/drawing/2014/main" id="{579AADA4-4DDD-4418-B794-88779CC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017"/>
                </a:solidFill>
              </a:defRPr>
            </a:pPr>
            <a:r>
              <a:rPr sz="3150" b="1" i="0">
                <a:solidFill>
                  <a:srgbClr val="0B1017"/>
                </a:solidFill>
              </a:rPr>
              <a:t>Inference stability can help - after a transfer test</a:t>
            </a:r>
          </a:p>
        </p:txBody>
      </p:sp>
      <p:sp>
        <p:nvSpPr>
          <p:cNvPr id="4" name="header-subtitle-10">
            <a:extLst xmlns:a="http://schemas.openxmlformats.org/drawingml/2006/main">
              <a:ext uri="{FF2B5EF4-FFF2-40B4-BE49-F238E27FC236}">
                <a16:creationId xmlns:a16="http://schemas.microsoft.com/office/drawing/2014/main" id="{4A899D75-6665-4399-8C53-896C156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3"/>
                </a:solidFill>
              </a:defRPr>
            </a:pPr>
            <a:r>
              <a:rPr sz="1350" b="0" i="0">
                <a:solidFill>
                  <a:srgbClr val="5C6673"/>
                </a:solidFill>
              </a:rPr>
              <a:t>A team-reported capability could help evaluation discipline, but language-model stability and vision-model drift are different problems.</a:t>
            </a:r>
          </a:p>
        </p:txBody>
      </p:sp>
      <p:sp>
        <p:nvSpPr>
          <p:cNvPr id="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D410CE04-6730-445F-BCC8-7901336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f4e0ca1d24304">
            <a:extLst>
              <a:ext uri="{96DAC541-7B7A-43D3-8B79-37D633B846F1}">
                <asvg:svgBlip xmlns:asvg="http://schemas.microsoft.com/office/drawing/2016/SVG/main" r:embed="R79bfa8eebfae4a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373D9550-1722-444B-8373-08E66ED0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1017"/>
                </a:solidFill>
              </a:defRPr>
            </a:pPr>
            <a:r>
              <a:rPr sz="900" b="1" i="0">
                <a:solidFill>
                  <a:srgbClr val="0B1017"/>
                </a:solidFill>
              </a:rPr>
              <a:t>SAPAR</a:t>
            </a:r>
          </a:p>
        </p:txBody>
      </p:sp>
      <p:sp>
        <p:nvSpPr>
          <p:cNvPr id="8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62C97DB-98DF-4611-BB7E-8C54EB32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STRATEGIC PARTNER BRIEF / CANDIDATE ACCELERATOR</a:t>
            </a:r>
          </a:p>
        </p:txBody>
      </p:sp>
      <p:sp>
        <p:nvSpPr>
          <p:cNvPr id="9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D21C7776-9E05-4917-A2A2-21602DB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10 / 14</a:t>
            </a:r>
          </a:p>
        </p:txBody>
      </p:sp>
      <p:sp>
        <p:nvSpPr>
          <p:cNvPr id="10" name="drift-left">
            <a:extLst xmlns:a="http://schemas.openxmlformats.org/drawingml/2006/main">
              <a:ext uri="{FF2B5EF4-FFF2-40B4-BE49-F238E27FC236}">
                <a16:creationId xmlns:a16="http://schemas.microsoft.com/office/drawing/2014/main" id="{8F8C23F9-A1A0-4A45-86B5-44743E4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029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F"/>
            </a:solidFill>
            <a:prstDash val="solid"/>
          </a:ln>
        </p:spPr>
      </p:sp>
      <p:sp>
        <p:nvSpPr>
          <p:cNvPr id="11" name="drift-right">
            <a:extLst xmlns:a="http://schemas.openxmlformats.org/drawingml/2006/main">
              <a:ext uri="{FF2B5EF4-FFF2-40B4-BE49-F238E27FC236}">
                <a16:creationId xmlns:a16="http://schemas.microsoft.com/office/drawing/2014/main" id="{5BDCEF9E-2F3C-4418-9EDA-F49F275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6769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rift-left-kicker">
            <a:extLst xmlns:a="http://schemas.openxmlformats.org/drawingml/2006/main">
              <a:ext uri="{FF2B5EF4-FFF2-40B4-BE49-F238E27FC236}">
                <a16:creationId xmlns:a16="http://schemas.microsoft.com/office/drawing/2014/main" id="{B669034B-7203-43A0-9F09-3665FFDF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42EA"/>
                </a:solidFill>
              </a:defRPr>
            </a:pPr>
            <a:r>
              <a:rPr sz="825" b="1" i="0">
                <a:solidFill>
                  <a:srgbClr val="0042EA"/>
                </a:solidFill>
              </a:rPr>
              <a:t>TEAM-REPORTED CAPABILITY</a:t>
            </a:r>
          </a:p>
        </p:txBody>
      </p:sp>
      <p:sp>
        <p:nvSpPr>
          <p:cNvPr id="13" name="drift-left-title">
            <a:extLst xmlns:a="http://schemas.openxmlformats.org/drawingml/2006/main">
              <a:ext uri="{FF2B5EF4-FFF2-40B4-BE49-F238E27FC236}">
                <a16:creationId xmlns:a16="http://schemas.microsoft.com/office/drawing/2014/main" id="{F1F8D62E-26F7-4A30-81EC-5A70B224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17"/>
                </a:solidFill>
              </a:defRPr>
            </a:pPr>
            <a:r>
              <a:rPr sz="2625" b="1" i="0">
                <a:solidFill>
                  <a:srgbClr val="0B1017"/>
                </a:solidFill>
              </a:rPr>
              <a:t>Inference-stability</a:t>
            </a:r>
          </a:p>
          <a:p xmlns:a="http://schemas.openxmlformats.org/drawingml/2006/main">
            <a:pPr algn="l">
              <a:defRPr sz="2625" b="1" i="0">
                <a:solidFill>
                  <a:srgbClr val="0B1017"/>
                </a:solidFill>
              </a:defRPr>
            </a:pPr>
            <a:r>
              <a:rPr sz="2625" b="1" i="0">
                <a:solidFill>
                  <a:srgbClr val="0B1017"/>
                </a:solidFill>
              </a:rPr>
              <a:t>control</a:t>
            </a:r>
          </a:p>
        </p:txBody>
      </p:sp>
      <p:sp>
        <p:nvSpPr>
          <p:cNvPr id="14" name="drift-left-copy">
            <a:extLst xmlns:a="http://schemas.openxmlformats.org/drawingml/2006/main">
              <a:ext uri="{FF2B5EF4-FFF2-40B4-BE49-F238E27FC236}">
                <a16:creationId xmlns:a16="http://schemas.microsoft.com/office/drawing/2014/main" id="{8C00817F-538A-4398-8A6B-78639CD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6673"/>
                </a:solidFill>
              </a:defRPr>
            </a:pPr>
            <a:r>
              <a:rPr sz="1425" b="0" i="0">
                <a:solidFill>
                  <a:srgbClr val="5C6673"/>
                </a:solidFill>
              </a:rPr>
              <a:t>Potential reuse: versioning, deterministic harnesses, regression detection, rollback, and reproducible evaluation.</a:t>
            </a:r>
          </a:p>
        </p:txBody>
      </p:sp>
      <p:sp>
        <p:nvSpPr>
          <p:cNvPr id="15" name="drift-right-kicker">
            <a:extLst xmlns:a="http://schemas.openxmlformats.org/drawingml/2006/main">
              <a:ext uri="{FF2B5EF4-FFF2-40B4-BE49-F238E27FC236}">
                <a16:creationId xmlns:a16="http://schemas.microsoft.com/office/drawing/2014/main" id="{6D0DB408-010B-47A6-862E-68D7C35C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B13B"/>
                </a:solidFill>
              </a:defRPr>
            </a:pPr>
            <a:r>
              <a:rPr sz="825" b="1" i="0">
                <a:solidFill>
                  <a:srgbClr val="FFB13B"/>
                </a:solidFill>
              </a:rPr>
              <a:t>SAPAR-SPECIFIC PROOF REQUIRED</a:t>
            </a:r>
          </a:p>
        </p:txBody>
      </p:sp>
      <p:sp>
        <p:nvSpPr>
          <p:cNvPr id="16" name="drift-right-title">
            <a:extLst xmlns:a="http://schemas.openxmlformats.org/drawingml/2006/main">
              <a:ext uri="{FF2B5EF4-FFF2-40B4-BE49-F238E27FC236}">
                <a16:creationId xmlns:a16="http://schemas.microsoft.com/office/drawing/2014/main" id="{8E7A81FB-EAAE-4FDB-B3B9-2C22AF2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8FAFC"/>
                </a:solidFill>
              </a:defRPr>
            </a:pPr>
            <a:r>
              <a:rPr sz="2625" b="1" i="0">
                <a:solidFill>
                  <a:srgbClr val="F8FAFC"/>
                </a:solidFill>
              </a:rPr>
              <a:t>Temporal + domain</a:t>
            </a:r>
          </a:p>
          <a:p xmlns:a="http://schemas.openxmlformats.org/drawingml/2006/main">
            <a:pPr algn="l">
              <a:defRPr sz="2625" b="1" i="0">
                <a:solidFill>
                  <a:srgbClr val="F8FAFC"/>
                </a:solidFill>
              </a:defRPr>
            </a:pPr>
            <a:r>
              <a:rPr sz="2625" b="1" i="0">
                <a:solidFill>
                  <a:srgbClr val="F8FAFC"/>
                </a:solidFill>
              </a:rPr>
              <a:t>stability</a:t>
            </a:r>
          </a:p>
        </p:txBody>
      </p:sp>
      <p:sp>
        <p:nvSpPr>
          <p:cNvPr id="17" name="drift-right-copy">
            <a:extLst xmlns:a="http://schemas.openxmlformats.org/drawingml/2006/main">
              <a:ext uri="{FF2B5EF4-FFF2-40B4-BE49-F238E27FC236}">
                <a16:creationId xmlns:a16="http://schemas.microsoft.com/office/drawing/2014/main" id="{33215B54-B714-4992-AB4C-F3FEEF70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62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6AFBC"/>
                </a:solidFill>
              </a:defRPr>
            </a:pPr>
            <a:r>
              <a:rPr sz="1425" b="0" i="0">
                <a:solidFill>
                  <a:srgbClr val="A6AFBC"/>
                </a:solidFill>
              </a:rPr>
              <a:t>Body tracking can drift across athletes, gyms, cameras, lighting, occlusion, uniforms, rulesets, venues, and time.</a:t>
            </a:r>
          </a:p>
        </p:txBody>
      </p:sp>
      <p:sp>
        <p:nvSpPr>
          <p:cNvPr id="18" name="drift-gate-line">
            <a:extLst xmlns:a="http://schemas.openxmlformats.org/drawingml/2006/main">
              <a:ext uri="{FF2B5EF4-FFF2-40B4-BE49-F238E27FC236}">
                <a16:creationId xmlns:a16="http://schemas.microsoft.com/office/drawing/2014/main" id="{FC7CF198-E110-4F8B-966B-6811352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899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rift-gate-0-disc">
            <a:extLst xmlns:a="http://schemas.openxmlformats.org/drawingml/2006/main">
              <a:ext uri="{FF2B5EF4-FFF2-40B4-BE49-F238E27FC236}">
                <a16:creationId xmlns:a16="http://schemas.microsoft.com/office/drawing/2014/main" id="{83BCE308-3C91-4C91-A757-4CC4CDF6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rift-gate-0-value">
            <a:extLst xmlns:a="http://schemas.openxmlformats.org/drawingml/2006/main">
              <a:ext uri="{FF2B5EF4-FFF2-40B4-BE49-F238E27FC236}">
                <a16:creationId xmlns:a16="http://schemas.microsoft.com/office/drawing/2014/main" id="{DCFEA7C6-683E-489A-A7E0-B6678762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21" name="drift-gate-label-0">
            <a:extLst xmlns:a="http://schemas.openxmlformats.org/drawingml/2006/main">
              <a:ext uri="{FF2B5EF4-FFF2-40B4-BE49-F238E27FC236}">
                <a16:creationId xmlns:a16="http://schemas.microsoft.com/office/drawing/2014/main" id="{7374C74D-06ED-457F-94E3-29CB1D4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017"/>
                </a:solidFill>
              </a:defRPr>
            </a:pPr>
            <a:r>
              <a:rPr sz="1275" b="1" i="0">
                <a:solidFill>
                  <a:srgbClr val="0B1017"/>
                </a:solidFill>
              </a:rPr>
              <a:t>REPEAT</a:t>
            </a:r>
          </a:p>
        </p:txBody>
      </p:sp>
      <p:sp>
        <p:nvSpPr>
          <p:cNvPr id="22" name="drift-gate-1-disc">
            <a:extLst xmlns:a="http://schemas.openxmlformats.org/drawingml/2006/main">
              <a:ext uri="{FF2B5EF4-FFF2-40B4-BE49-F238E27FC236}">
                <a16:creationId xmlns:a16="http://schemas.microsoft.com/office/drawing/2014/main" id="{88D80A45-F938-4F81-B63D-9D61CEBF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57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rift-gate-1-value">
            <a:extLst xmlns:a="http://schemas.openxmlformats.org/drawingml/2006/main">
              <a:ext uri="{FF2B5EF4-FFF2-40B4-BE49-F238E27FC236}">
                <a16:creationId xmlns:a16="http://schemas.microsoft.com/office/drawing/2014/main" id="{BB72B74C-482D-48CC-83F8-E9D1DBF6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244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4" name="drift-gate-label-1">
            <a:extLst xmlns:a="http://schemas.openxmlformats.org/drawingml/2006/main">
              <a:ext uri="{FF2B5EF4-FFF2-40B4-BE49-F238E27FC236}">
                <a16:creationId xmlns:a16="http://schemas.microsoft.com/office/drawing/2014/main" id="{FC926C85-A425-4E4A-8985-2FE7802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10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017"/>
                </a:solidFill>
              </a:defRPr>
            </a:pPr>
            <a:r>
              <a:rPr sz="1275" b="1" i="0">
                <a:solidFill>
                  <a:srgbClr val="0B1017"/>
                </a:solidFill>
              </a:rPr>
              <a:t>TRANSFER</a:t>
            </a:r>
          </a:p>
        </p:txBody>
      </p:sp>
      <p:sp>
        <p:nvSpPr>
          <p:cNvPr id="25" name="drift-gate-2-disc">
            <a:extLst xmlns:a="http://schemas.openxmlformats.org/drawingml/2006/main">
              <a:ext uri="{FF2B5EF4-FFF2-40B4-BE49-F238E27FC236}">
                <a16:creationId xmlns:a16="http://schemas.microsoft.com/office/drawing/2014/main" id="{5C7171E8-A35C-4A80-B4DF-25B9D86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57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rift-gate-2-value">
            <a:extLst xmlns:a="http://schemas.openxmlformats.org/drawingml/2006/main">
              <a:ext uri="{FF2B5EF4-FFF2-40B4-BE49-F238E27FC236}">
                <a16:creationId xmlns:a16="http://schemas.microsoft.com/office/drawing/2014/main" id="{7F4B0816-BE47-4C68-8B00-5C253867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244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7" name="drift-gate-label-2">
            <a:extLst xmlns:a="http://schemas.openxmlformats.org/drawingml/2006/main">
              <a:ext uri="{FF2B5EF4-FFF2-40B4-BE49-F238E27FC236}">
                <a16:creationId xmlns:a16="http://schemas.microsoft.com/office/drawing/2014/main" id="{E4381603-B0EC-4B82-8E48-1D83426C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0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017"/>
                </a:solidFill>
              </a:defRPr>
            </a:pPr>
            <a:r>
              <a:rPr sz="1275" b="1" i="0">
                <a:solidFill>
                  <a:srgbClr val="0B1017"/>
                </a:solidFill>
              </a:rPr>
              <a:t>COMPARE</a:t>
            </a:r>
          </a:p>
        </p:txBody>
      </p:sp>
      <p:sp>
        <p:nvSpPr>
          <p:cNvPr id="28" name="drift-gate-3-disc">
            <a:extLst xmlns:a="http://schemas.openxmlformats.org/drawingml/2006/main">
              <a:ext uri="{FF2B5EF4-FFF2-40B4-BE49-F238E27FC236}">
                <a16:creationId xmlns:a16="http://schemas.microsoft.com/office/drawing/2014/main" id="{5022AF95-145C-4E3C-9BFA-8B1A9F4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57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rift-gate-3-value">
            <a:extLst xmlns:a="http://schemas.openxmlformats.org/drawingml/2006/main">
              <a:ext uri="{FF2B5EF4-FFF2-40B4-BE49-F238E27FC236}">
                <a16:creationId xmlns:a16="http://schemas.microsoft.com/office/drawing/2014/main" id="{FA30522D-D1E7-4A5B-8AEC-0CCA048A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244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30" name="drift-gate-label-3">
            <a:extLst xmlns:a="http://schemas.openxmlformats.org/drawingml/2006/main">
              <a:ext uri="{FF2B5EF4-FFF2-40B4-BE49-F238E27FC236}">
                <a16:creationId xmlns:a16="http://schemas.microsoft.com/office/drawing/2014/main" id="{E40F8B9D-39F6-464F-8C5E-F572AD72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10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017"/>
                </a:solidFill>
              </a:defRPr>
            </a:pPr>
            <a:r>
              <a:rPr sz="1275" b="1" i="0">
                <a:solidFill>
                  <a:srgbClr val="0B1017"/>
                </a:solidFill>
              </a:rPr>
              <a:t>ROLL BACK</a:t>
            </a:r>
          </a:p>
        </p:txBody>
      </p:sp>
    </p:spTree>
    <p:extLst>
      <p:ext uri="{BB962C8B-B14F-4D97-AF65-F5344CB8AC3E}">
        <p14:creationId xmlns:p14="http://schemas.microsoft.com/office/powerpoint/2010/main" val="273695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header-blue-11">
            <a:extLst xmlns:a="http://schemas.openxmlformats.org/drawingml/2006/main">
              <a:ext uri="{FF2B5EF4-FFF2-40B4-BE49-F238E27FC236}">
                <a16:creationId xmlns:a16="http://schemas.microsoft.com/office/drawing/2014/main" id="{8A2A4460-0A31-4028-B47E-90D4832B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11">
            <a:extLst xmlns:a="http://schemas.openxmlformats.org/drawingml/2006/main">
              <a:ext uri="{FF2B5EF4-FFF2-40B4-BE49-F238E27FC236}">
                <a16:creationId xmlns:a16="http://schemas.microsoft.com/office/drawing/2014/main" id="{6405A533-F763-43E0-B425-224AB12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SCALE-SAFE ARCHITECTURE</a:t>
            </a:r>
          </a:p>
        </p:txBody>
      </p:sp>
      <p:sp>
        <p:nvSpPr>
          <p:cNvPr id="3" name="header-title-11">
            <a:extLst xmlns:a="http://schemas.openxmlformats.org/drawingml/2006/main">
              <a:ext uri="{FF2B5EF4-FFF2-40B4-BE49-F238E27FC236}">
                <a16:creationId xmlns:a16="http://schemas.microsoft.com/office/drawing/2014/main" id="{0111FF59-50B1-4E50-8C0E-20F50A11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Scale around one source of truth</a:t>
            </a:r>
          </a:p>
        </p:txBody>
      </p:sp>
      <p:sp>
        <p:nvSpPr>
          <p:cNvPr id="4" name="header-subtitle-11">
            <a:extLst xmlns:a="http://schemas.openxmlformats.org/drawingml/2006/main">
              <a:ext uri="{FF2B5EF4-FFF2-40B4-BE49-F238E27FC236}">
                <a16:creationId xmlns:a16="http://schemas.microsoft.com/office/drawing/2014/main" id="{A25AEE79-86BF-4809-8711-DD600D53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Start coherent. Split systems only when measured workload, reliability, or ownership pressure justifies the move.</a:t>
            </a:r>
          </a:p>
        </p:txBody>
      </p:sp>
      <p:sp>
        <p:nvSpPr>
          <p:cNvPr id="5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8EB01266-0140-442A-89E2-0563CD30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0b7e95b2e4763">
            <a:extLst>
              <a:ext uri="{96DAC541-7B7A-43D3-8B79-37D633B846F1}">
                <asvg:svgBlip xmlns:asvg="http://schemas.microsoft.com/office/drawing/2016/SVG/main" r:embed="Rd69bcd9c152445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25D310C1-A31B-4F0A-99C8-EEB469B2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B8F8B8C6-1EB8-4714-BB55-376B3349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SCALE-SAFE ARCHITECTURE</a:t>
            </a:r>
          </a:p>
        </p:txBody>
      </p:sp>
      <p:sp>
        <p:nvSpPr>
          <p:cNvPr id="9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DD1217DB-D248-4847-903E-DA6F0CE4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11 / 14</a:t>
            </a:r>
          </a:p>
        </p:txBody>
      </p:sp>
      <p:sp>
        <p:nvSpPr>
          <p:cNvPr id="10" name="arch-client-line">
            <a:extLst xmlns:a="http://schemas.openxmlformats.org/drawingml/2006/main">
              <a:ext uri="{FF2B5EF4-FFF2-40B4-BE49-F238E27FC236}">
                <a16:creationId xmlns:a16="http://schemas.microsoft.com/office/drawing/2014/main" id="{EFCA6829-2F32-4CB8-A6AB-6C2987CE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down-1">
            <a:extLst xmlns:a="http://schemas.openxmlformats.org/drawingml/2006/main">
              <a:ext uri="{FF2B5EF4-FFF2-40B4-BE49-F238E27FC236}">
                <a16:creationId xmlns:a16="http://schemas.microsoft.com/office/drawing/2014/main" id="{AD4850D6-AEC1-4157-AE12-718FE0F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down-2">
            <a:extLst xmlns:a="http://schemas.openxmlformats.org/drawingml/2006/main">
              <a:ext uri="{FF2B5EF4-FFF2-40B4-BE49-F238E27FC236}">
                <a16:creationId xmlns:a16="http://schemas.microsoft.com/office/drawing/2014/main" id="{0CC4E2ED-43D9-40FF-819C-129EA30F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bottom">
            <a:extLst xmlns:a="http://schemas.openxmlformats.org/drawingml/2006/main">
              <a:ext uri="{FF2B5EF4-FFF2-40B4-BE49-F238E27FC236}">
                <a16:creationId xmlns:a16="http://schemas.microsoft.com/office/drawing/2014/main" id="{EC1DF4C8-43DD-48CD-BC69-D14340F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db-stem">
            <a:extLst xmlns:a="http://schemas.openxmlformats.org/drawingml/2006/main">
              <a:ext uri="{FF2B5EF4-FFF2-40B4-BE49-F238E27FC236}">
                <a16:creationId xmlns:a16="http://schemas.microsoft.com/office/drawing/2014/main" id="{8FB11562-5A70-4F96-A0A8-49B0CC5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63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object-stem">
            <a:extLst xmlns:a="http://schemas.openxmlformats.org/drawingml/2006/main">
              <a:ext uri="{FF2B5EF4-FFF2-40B4-BE49-F238E27FC236}">
                <a16:creationId xmlns:a16="http://schemas.microsoft.com/office/drawing/2014/main" id="{54FE6ABD-E9E6-4540-83AA-08AE71A4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worker-stem">
            <a:extLst xmlns:a="http://schemas.openxmlformats.org/drawingml/2006/main">
              <a:ext uri="{FF2B5EF4-FFF2-40B4-BE49-F238E27FC236}">
                <a16:creationId xmlns:a16="http://schemas.microsoft.com/office/drawing/2014/main" id="{B0656D21-AA94-4267-B6DA-79E840BB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863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client-0">
            <a:extLst xmlns:a="http://schemas.openxmlformats.org/drawingml/2006/main">
              <a:ext uri="{FF2B5EF4-FFF2-40B4-BE49-F238E27FC236}">
                <a16:creationId xmlns:a16="http://schemas.microsoft.com/office/drawing/2014/main" id="{574E4AB5-B4BD-4153-BA52-AC3AD4E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18" name="arch-client-label-0">
            <a:extLst xmlns:a="http://schemas.openxmlformats.org/drawingml/2006/main">
              <a:ext uri="{FF2B5EF4-FFF2-40B4-BE49-F238E27FC236}">
                <a16:creationId xmlns:a16="http://schemas.microsoft.com/office/drawing/2014/main" id="{8657A954-BC0A-44FA-81BE-8F2EFF9C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8FAFC"/>
                </a:solidFill>
              </a:defRPr>
            </a:pPr>
            <a:r>
              <a:rPr sz="1425" b="1" i="0">
                <a:solidFill>
                  <a:srgbClr val="F8FAFC"/>
                </a:solidFill>
              </a:rPr>
              <a:t>FIGHTER</a:t>
            </a:r>
          </a:p>
        </p:txBody>
      </p:sp>
      <p:sp>
        <p:nvSpPr>
          <p:cNvPr id="19" name="arch-client-1">
            <a:extLst xmlns:a="http://schemas.openxmlformats.org/drawingml/2006/main">
              <a:ext uri="{FF2B5EF4-FFF2-40B4-BE49-F238E27FC236}">
                <a16:creationId xmlns:a16="http://schemas.microsoft.com/office/drawing/2014/main" id="{9880A14F-60BB-4284-818E-9BF6163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0" name="arch-client-label-1">
            <a:extLst xmlns:a="http://schemas.openxmlformats.org/drawingml/2006/main">
              <a:ext uri="{FF2B5EF4-FFF2-40B4-BE49-F238E27FC236}">
                <a16:creationId xmlns:a16="http://schemas.microsoft.com/office/drawing/2014/main" id="{ADFA97EA-C0C6-4C44-8B53-2C44321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8FAFC"/>
                </a:solidFill>
              </a:defRPr>
            </a:pPr>
            <a:r>
              <a:rPr sz="1425" b="1" i="0">
                <a:solidFill>
                  <a:srgbClr val="F8FAFC"/>
                </a:solidFill>
              </a:rPr>
              <a:t>GYM</a:t>
            </a:r>
          </a:p>
        </p:txBody>
      </p:sp>
      <p:sp>
        <p:nvSpPr>
          <p:cNvPr id="21" name="arch-client-2">
            <a:extLst xmlns:a="http://schemas.openxmlformats.org/drawingml/2006/main">
              <a:ext uri="{FF2B5EF4-FFF2-40B4-BE49-F238E27FC236}">
                <a16:creationId xmlns:a16="http://schemas.microsoft.com/office/drawing/2014/main" id="{8E0B3F87-8AA1-438A-A323-A606C31B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2" name="arch-client-label-2">
            <a:extLst xmlns:a="http://schemas.openxmlformats.org/drawingml/2006/main">
              <a:ext uri="{FF2B5EF4-FFF2-40B4-BE49-F238E27FC236}">
                <a16:creationId xmlns:a16="http://schemas.microsoft.com/office/drawing/2014/main" id="{4B23D7B6-87F5-4CE1-A287-9D216B82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8FAFC"/>
                </a:solidFill>
              </a:defRPr>
            </a:pPr>
            <a:r>
              <a:rPr sz="1425" b="1" i="0">
                <a:solidFill>
                  <a:srgbClr val="F8FAFC"/>
                </a:solidFill>
              </a:rPr>
              <a:t>EVENT OPS</a:t>
            </a:r>
          </a:p>
        </p:txBody>
      </p:sp>
      <p:sp>
        <p:nvSpPr>
          <p:cNvPr id="23" name="arch-client-3">
            <a:extLst xmlns:a="http://schemas.openxmlformats.org/drawingml/2006/main">
              <a:ext uri="{FF2B5EF4-FFF2-40B4-BE49-F238E27FC236}">
                <a16:creationId xmlns:a16="http://schemas.microsoft.com/office/drawing/2014/main" id="{64698E27-8E28-4910-8C23-C4BCCC1F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4" name="arch-client-label-3">
            <a:extLst xmlns:a="http://schemas.openxmlformats.org/drawingml/2006/main">
              <a:ext uri="{FF2B5EF4-FFF2-40B4-BE49-F238E27FC236}">
                <a16:creationId xmlns:a16="http://schemas.microsoft.com/office/drawing/2014/main" id="{0B21AC3F-3849-406A-8050-9E5F7795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8FAFC"/>
                </a:solidFill>
              </a:defRPr>
            </a:pPr>
            <a:r>
              <a:rPr sz="1425" b="1" i="0">
                <a:solidFill>
                  <a:srgbClr val="F8FAFC"/>
                </a:solidFill>
              </a:rPr>
              <a:t>PARTNERS</a:t>
            </a:r>
          </a:p>
        </p:txBody>
      </p:sp>
      <p:sp>
        <p:nvSpPr>
          <p:cNvPr id="25" name="arch-core">
            <a:extLst xmlns:a="http://schemas.openxmlformats.org/drawingml/2006/main">
              <a:ext uri="{FF2B5EF4-FFF2-40B4-BE49-F238E27FC236}">
                <a16:creationId xmlns:a16="http://schemas.microsoft.com/office/drawing/2014/main" id="{9637C709-1A52-48DF-9479-A8D9BD10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624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-core-label">
            <a:extLst xmlns:a="http://schemas.openxmlformats.org/drawingml/2006/main">
              <a:ext uri="{FF2B5EF4-FFF2-40B4-BE49-F238E27FC236}">
                <a16:creationId xmlns:a16="http://schemas.microsoft.com/office/drawing/2014/main" id="{45843284-CF72-47CB-913B-988C186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0045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MODULAR PRODUCT CORE</a:t>
            </a:r>
          </a:p>
        </p:txBody>
      </p:sp>
      <p:sp>
        <p:nvSpPr>
          <p:cNvPr id="27" name="arch-core-detail">
            <a:extLst xmlns:a="http://schemas.openxmlformats.org/drawingml/2006/main">
              <a:ext uri="{FF2B5EF4-FFF2-40B4-BE49-F238E27FC236}">
                <a16:creationId xmlns:a16="http://schemas.microsoft.com/office/drawing/2014/main" id="{E006D38E-89AF-4323-9E4E-5F21F08D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F8FAFC"/>
                </a:solidFill>
              </a:defRPr>
            </a:pPr>
            <a:r>
              <a:rPr sz="750" b="0" i="0">
                <a:solidFill>
                  <a:srgbClr val="F8FAFC"/>
                </a:solidFill>
              </a:rPr>
              <a:t>identity / rules / events / results / ratings / consent / audit</a:t>
            </a:r>
          </a:p>
        </p:txBody>
      </p:sp>
      <p:sp>
        <p:nvSpPr>
          <p:cNvPr id="28" name="arch-base-0">
            <a:extLst xmlns:a="http://schemas.openxmlformats.org/drawingml/2006/main">
              <a:ext uri="{FF2B5EF4-FFF2-40B4-BE49-F238E27FC236}">
                <a16:creationId xmlns:a16="http://schemas.microsoft.com/office/drawing/2014/main" id="{9B9ABB88-20DD-48EB-99D0-CD86C911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2743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19050">
            <a:solidFill>
              <a:srgbClr val="3478FF"/>
            </a:solidFill>
            <a:prstDash val="solid"/>
          </a:ln>
        </p:spPr>
      </p:sp>
      <p:sp>
        <p:nvSpPr>
          <p:cNvPr id="29" name="arch-base-label-0">
            <a:extLst xmlns:a="http://schemas.openxmlformats.org/drawingml/2006/main">
              <a:ext uri="{FF2B5EF4-FFF2-40B4-BE49-F238E27FC236}">
                <a16:creationId xmlns:a16="http://schemas.microsoft.com/office/drawing/2014/main" id="{644CC87E-2DC1-4FCA-9B9F-1D362C39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911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8FAFC"/>
                </a:solidFill>
              </a:defRPr>
            </a:pPr>
            <a:r>
              <a:rPr sz="1275" b="1" i="0">
                <a:solidFill>
                  <a:srgbClr val="F8FAFC"/>
                </a:solidFill>
              </a:rPr>
              <a:t>POSTGRESQL AUTHORITY</a:t>
            </a:r>
          </a:p>
        </p:txBody>
      </p:sp>
      <p:sp>
        <p:nvSpPr>
          <p:cNvPr id="30" name="arch-base-detail-0">
            <a:extLst xmlns:a="http://schemas.openxmlformats.org/drawingml/2006/main">
              <a:ext uri="{FF2B5EF4-FFF2-40B4-BE49-F238E27FC236}">
                <a16:creationId xmlns:a16="http://schemas.microsoft.com/office/drawing/2014/main" id="{30FDED44-58E1-4EB8-AE8F-D90FA980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67400"/>
            <a:ext cx="25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transactions / ledger / outbox</a:t>
            </a:r>
          </a:p>
        </p:txBody>
      </p:sp>
      <p:sp>
        <p:nvSpPr>
          <p:cNvPr id="31" name="arch-base-1">
            <a:extLst xmlns:a="http://schemas.openxmlformats.org/drawingml/2006/main">
              <a:ext uri="{FF2B5EF4-FFF2-40B4-BE49-F238E27FC236}">
                <a16:creationId xmlns:a16="http://schemas.microsoft.com/office/drawing/2014/main" id="{B9B693B4-192A-4099-B011-5584DB1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2743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32" name="arch-base-label-1">
            <a:extLst xmlns:a="http://schemas.openxmlformats.org/drawingml/2006/main">
              <a:ext uri="{FF2B5EF4-FFF2-40B4-BE49-F238E27FC236}">
                <a16:creationId xmlns:a16="http://schemas.microsoft.com/office/drawing/2014/main" id="{A58D36C2-6CBB-443E-A02F-C765D24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911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8FAFC"/>
                </a:solidFill>
              </a:defRPr>
            </a:pPr>
            <a:r>
              <a:rPr sz="1275" b="1" i="0">
                <a:solidFill>
                  <a:srgbClr val="F8FAFC"/>
                </a:solidFill>
              </a:rPr>
              <a:t>OBJECT STORAGE</a:t>
            </a:r>
          </a:p>
        </p:txBody>
      </p:sp>
      <p:sp>
        <p:nvSpPr>
          <p:cNvPr id="33" name="arch-base-detail-1">
            <a:extLst xmlns:a="http://schemas.openxmlformats.org/drawingml/2006/main">
              <a:ext uri="{FF2B5EF4-FFF2-40B4-BE49-F238E27FC236}">
                <a16:creationId xmlns:a16="http://schemas.microsoft.com/office/drawing/2014/main" id="{5AE701F9-34F8-4171-8A39-E288D6C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67400"/>
            <a:ext cx="25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media bytes / policy in DB</a:t>
            </a:r>
          </a:p>
        </p:txBody>
      </p:sp>
      <p:sp>
        <p:nvSpPr>
          <p:cNvPr id="34" name="arch-base-2">
            <a:extLst xmlns:a="http://schemas.openxmlformats.org/drawingml/2006/main">
              <a:ext uri="{FF2B5EF4-FFF2-40B4-BE49-F238E27FC236}">
                <a16:creationId xmlns:a16="http://schemas.microsoft.com/office/drawing/2014/main" id="{2660D11B-8ABC-4F5F-AD60-91A489F9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67350"/>
            <a:ext cx="2743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35" name="arch-base-label-2">
            <a:extLst xmlns:a="http://schemas.openxmlformats.org/drawingml/2006/main">
              <a:ext uri="{FF2B5EF4-FFF2-40B4-BE49-F238E27FC236}">
                <a16:creationId xmlns:a16="http://schemas.microsoft.com/office/drawing/2014/main" id="{28619EB2-0BC6-4311-B6F7-38EE0FB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911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8FAFC"/>
                </a:solidFill>
              </a:defRPr>
            </a:pPr>
            <a:r>
              <a:rPr sz="1275" b="1" i="0">
                <a:solidFill>
                  <a:srgbClr val="F8FAFC"/>
                </a:solidFill>
              </a:rPr>
              <a:t>WORKERS + PROJECTIONS</a:t>
            </a:r>
          </a:p>
        </p:txBody>
      </p:sp>
      <p:sp>
        <p:nvSpPr>
          <p:cNvPr id="36" name="arch-base-detail-2">
            <a:extLst xmlns:a="http://schemas.openxmlformats.org/drawingml/2006/main">
              <a:ext uri="{FF2B5EF4-FFF2-40B4-BE49-F238E27FC236}">
                <a16:creationId xmlns:a16="http://schemas.microsoft.com/office/drawing/2014/main" id="{8A916CC4-CA40-425F-BEA8-9E2864E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67400"/>
            <a:ext cx="25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A6AFBC"/>
                </a:solidFill>
              </a:defRPr>
            </a:pPr>
            <a:r>
              <a:rPr sz="600" b="0" i="0">
                <a:solidFill>
                  <a:srgbClr val="A6AFBC"/>
                </a:solidFill>
              </a:rPr>
              <a:t>feeds / search / media / AI</a:t>
            </a:r>
          </a:p>
        </p:txBody>
      </p:sp>
      <p:sp>
        <p:nvSpPr>
          <p:cNvPr id="37" name="arch-trigger">
            <a:extLst xmlns:a="http://schemas.openxmlformats.org/drawingml/2006/main">
              <a:ext uri="{FF2B5EF4-FFF2-40B4-BE49-F238E27FC236}">
                <a16:creationId xmlns:a16="http://schemas.microsoft.com/office/drawing/2014/main" id="{DAA6A736-8C15-41DC-81F3-3EFF7E95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899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478FF"/>
                </a:solidFill>
              </a:defRPr>
            </a:pPr>
            <a:r>
              <a:rPr sz="675" b="0" i="0">
                <a:solidFill>
                  <a:srgbClr val="3478FF"/>
                </a:solidFill>
              </a:rPr>
              <a:t>MEASURE FIRST: contention / queue lag / media throughput / recovery / cost</a:t>
            </a:r>
          </a:p>
        </p:txBody>
      </p:sp>
    </p:spTree>
    <p:extLst>
      <p:ext uri="{BB962C8B-B14F-4D97-AF65-F5344CB8AC3E}">
        <p14:creationId xmlns:p14="http://schemas.microsoft.com/office/powerpoint/2010/main" val="50222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lue-12">
            <a:extLst xmlns:a="http://schemas.openxmlformats.org/drawingml/2006/main">
              <a:ext uri="{FF2B5EF4-FFF2-40B4-BE49-F238E27FC236}">
                <a16:creationId xmlns:a16="http://schemas.microsoft.com/office/drawing/2014/main" id="{8DA33648-8C34-4A25-A31F-65D44412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12">
            <a:extLst xmlns:a="http://schemas.openxmlformats.org/drawingml/2006/main">
              <a:ext uri="{FF2B5EF4-FFF2-40B4-BE49-F238E27FC236}">
                <a16:creationId xmlns:a16="http://schemas.microsoft.com/office/drawing/2014/main" id="{430288A9-3FD6-4D7E-9E5E-6013C12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42EA"/>
                </a:solidFill>
              </a:defRPr>
            </a:pPr>
            <a:r>
              <a:rPr sz="825" b="1" i="0">
                <a:solidFill>
                  <a:srgbClr val="0042EA"/>
                </a:solidFill>
              </a:rPr>
              <a:t>RISK AND UNKNOWNS</a:t>
            </a:r>
          </a:p>
        </p:txBody>
      </p:sp>
      <p:sp>
        <p:nvSpPr>
          <p:cNvPr id="3" name="header-title-12">
            <a:extLst xmlns:a="http://schemas.openxmlformats.org/drawingml/2006/main">
              <a:ext uri="{FF2B5EF4-FFF2-40B4-BE49-F238E27FC236}">
                <a16:creationId xmlns:a16="http://schemas.microsoft.com/office/drawing/2014/main" id="{6752D49A-7873-4800-AC96-B42B07BD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017"/>
                </a:solidFill>
              </a:defRPr>
            </a:pPr>
            <a:r>
              <a:rPr sz="3150" b="1" i="0">
                <a:solidFill>
                  <a:srgbClr val="0B1017"/>
                </a:solidFill>
              </a:rPr>
              <a:t>Make every material unknown testable</a:t>
            </a:r>
          </a:p>
        </p:txBody>
      </p:sp>
      <p:sp>
        <p:nvSpPr>
          <p:cNvPr id="4" name="header-subtitle-12">
            <a:extLst xmlns:a="http://schemas.openxmlformats.org/drawingml/2006/main">
              <a:ext uri="{FF2B5EF4-FFF2-40B4-BE49-F238E27FC236}">
                <a16:creationId xmlns:a16="http://schemas.microsoft.com/office/drawing/2014/main" id="{6CB4D21B-E52E-438F-AE27-8BC836F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3"/>
                </a:solidFill>
              </a:defRPr>
            </a:pPr>
            <a:r>
              <a:rPr sz="1350" b="0" i="0">
                <a:solidFill>
                  <a:srgbClr val="5C6673"/>
                </a:solidFill>
              </a:rPr>
              <a:t>SAPAR should convert each material uncertainty into an owner, a test, and a stop condition.</a:t>
            </a:r>
          </a:p>
        </p:txBody>
      </p:sp>
      <p:sp>
        <p:nvSpPr>
          <p:cNvPr id="5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41596DB6-65EA-451D-97DE-0950E99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ac76dd1c54444">
            <a:extLst>
              <a:ext uri="{96DAC541-7B7A-43D3-8B79-37D633B846F1}">
                <asvg:svgBlip xmlns:asvg="http://schemas.microsoft.com/office/drawing/2016/SVG/main" r:embed="R252076e77bff45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69190626-6B02-454F-A1D0-DB3572A4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1017"/>
                </a:solidFill>
              </a:defRPr>
            </a:pPr>
            <a:r>
              <a:rPr sz="900" b="1" i="0">
                <a:solidFill>
                  <a:srgbClr val="0B1017"/>
                </a:solidFill>
              </a:rPr>
              <a:t>SAPAR</a:t>
            </a:r>
          </a:p>
        </p:txBody>
      </p:sp>
      <p:sp>
        <p:nvSpPr>
          <p:cNvPr id="8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AC6940A4-D21D-4D5B-88E5-D27C6B4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STRATEGIC PARTNER BRIEF / RISK AND UNKNOWNS</a:t>
            </a:r>
          </a:p>
        </p:txBody>
      </p:sp>
      <p:sp>
        <p:nvSpPr>
          <p:cNvPr id="9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8AB303CA-12EC-4793-A261-3A8679B5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C6673"/>
                </a:solidFill>
              </a:defRPr>
            </a:pPr>
            <a:r>
              <a:rPr sz="750" b="0" i="0">
                <a:solidFill>
                  <a:srgbClr val="5C6673"/>
                </a:solidFill>
              </a:rPr>
              <a:t>12 / 14</a:t>
            </a:r>
          </a:p>
        </p:txBody>
      </p:sp>
      <p:sp>
        <p:nvSpPr>
          <p:cNvPr id="10" name="risk-field-0">
            <a:extLst xmlns:a="http://schemas.openxmlformats.org/drawingml/2006/main">
              <a:ext uri="{FF2B5EF4-FFF2-40B4-BE49-F238E27FC236}">
                <a16:creationId xmlns:a16="http://schemas.microsoft.com/office/drawing/2014/main" id="{6F193235-765C-4CA2-8BB9-C7D46A52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391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11" name="risk-rail-0">
            <a:extLst xmlns:a="http://schemas.openxmlformats.org/drawingml/2006/main">
              <a:ext uri="{FF2B5EF4-FFF2-40B4-BE49-F238E27FC236}">
                <a16:creationId xmlns:a16="http://schemas.microsoft.com/office/drawing/2014/main" id="{644D0E7A-1C89-4E3B-9001-04462BF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sk-label-0">
            <a:extLst xmlns:a="http://schemas.openxmlformats.org/drawingml/2006/main">
              <a:ext uri="{FF2B5EF4-FFF2-40B4-BE49-F238E27FC236}">
                <a16:creationId xmlns:a16="http://schemas.microsoft.com/office/drawing/2014/main" id="{7DAC7551-160D-4671-9EC2-F5435140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017"/>
                </a:solidFill>
              </a:defRPr>
            </a:pPr>
            <a:r>
              <a:rPr sz="1725" b="1" i="0">
                <a:solidFill>
                  <a:srgbClr val="0B1017"/>
                </a:solidFill>
              </a:rPr>
              <a:t>RIGHTS + PRIVACY</a:t>
            </a:r>
          </a:p>
        </p:txBody>
      </p:sp>
      <p:sp>
        <p:nvSpPr>
          <p:cNvPr id="13" name="risk-copy-0">
            <a:extLst xmlns:a="http://schemas.openxmlformats.org/drawingml/2006/main">
              <a:ext uri="{FF2B5EF4-FFF2-40B4-BE49-F238E27FC236}">
                <a16:creationId xmlns:a16="http://schemas.microsoft.com/office/drawing/2014/main" id="{DEB93694-4A71-451F-BD05-87D15F0C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Footage can include opponents, referees, crowds, voices, minors, and biometric signals.</a:t>
            </a:r>
          </a:p>
        </p:txBody>
      </p:sp>
      <p:sp>
        <p:nvSpPr>
          <p:cNvPr id="14" name="risk-gate-0">
            <a:extLst xmlns:a="http://schemas.openxmlformats.org/drawingml/2006/main">
              <a:ext uri="{FF2B5EF4-FFF2-40B4-BE49-F238E27FC236}">
                <a16:creationId xmlns:a16="http://schemas.microsoft.com/office/drawing/2014/main" id="{191B026A-9A96-41EE-8CDB-E88949AA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42EA"/>
                </a:solidFill>
              </a:defRPr>
            </a:pPr>
            <a:r>
              <a:rPr sz="675" b="1" i="0">
                <a:solidFill>
                  <a:srgbClr val="0042EA"/>
                </a:solidFill>
              </a:rPr>
              <a:t>Gate: explicit purpose, consent, withdrawal, deletion, and counsel review.</a:t>
            </a:r>
          </a:p>
        </p:txBody>
      </p:sp>
      <p:sp>
        <p:nvSpPr>
          <p:cNvPr id="15" name="risk-field-1">
            <a:extLst xmlns:a="http://schemas.openxmlformats.org/drawingml/2006/main">
              <a:ext uri="{FF2B5EF4-FFF2-40B4-BE49-F238E27FC236}">
                <a16:creationId xmlns:a16="http://schemas.microsoft.com/office/drawing/2014/main" id="{AF94D93B-6871-4922-B39C-5F5BE805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391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16" name="risk-rail-1">
            <a:extLst xmlns:a="http://schemas.openxmlformats.org/drawingml/2006/main">
              <a:ext uri="{FF2B5EF4-FFF2-40B4-BE49-F238E27FC236}">
                <a16:creationId xmlns:a16="http://schemas.microsoft.com/office/drawing/2014/main" id="{6BE4820D-07F4-46D7-A7A4-CE03D62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439C8966-041B-420C-8C01-E53509A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017"/>
                </a:solidFill>
              </a:defRPr>
            </a:pPr>
            <a:r>
              <a:rPr sz="1725" b="1" i="0">
                <a:solidFill>
                  <a:srgbClr val="0B1017"/>
                </a:solidFill>
              </a:rPr>
              <a:t>MODEL + DATA</a:t>
            </a:r>
          </a:p>
        </p:txBody>
      </p:sp>
      <p:sp>
        <p:nvSpPr>
          <p:cNvPr id="18" name="risk-copy-1">
            <a:extLst xmlns:a="http://schemas.openxmlformats.org/drawingml/2006/main">
              <a:ext uri="{FF2B5EF4-FFF2-40B4-BE49-F238E27FC236}">
                <a16:creationId xmlns:a16="http://schemas.microsoft.com/office/drawing/2014/main" id="{63DB745E-2CFD-4DF1-8F3B-D5A61FAB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Aggregate accuracy can hide failure by athlete, gym, camera, occlusion, style, or time.</a:t>
            </a:r>
          </a:p>
        </p:txBody>
      </p:sp>
      <p:sp>
        <p:nvSpPr>
          <p:cNvPr id="19" name="risk-gate-1">
            <a:extLst xmlns:a="http://schemas.openxmlformats.org/drawingml/2006/main">
              <a:ext uri="{FF2B5EF4-FFF2-40B4-BE49-F238E27FC236}">
                <a16:creationId xmlns:a16="http://schemas.microsoft.com/office/drawing/2014/main" id="{88A3FE3E-0543-4578-97BE-372DFD2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B13B"/>
                </a:solidFill>
              </a:defRPr>
            </a:pPr>
            <a:r>
              <a:rPr sz="675" b="1" i="0">
                <a:solidFill>
                  <a:srgbClr val="FFB13B"/>
                </a:solidFill>
              </a:rPr>
              <a:t>Gate: hard-strata reporting, holdouts, calibration, and abstention.</a:t>
            </a:r>
          </a:p>
        </p:txBody>
      </p:sp>
      <p:sp>
        <p:nvSpPr>
          <p:cNvPr id="20" name="risk-field-2">
            <a:extLst xmlns:a="http://schemas.openxmlformats.org/drawingml/2006/main">
              <a:ext uri="{FF2B5EF4-FFF2-40B4-BE49-F238E27FC236}">
                <a16:creationId xmlns:a16="http://schemas.microsoft.com/office/drawing/2014/main" id="{3CD3B38E-4104-4BCA-AB90-95DD3E54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91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21" name="risk-rail-2">
            <a:extLst xmlns:a="http://schemas.openxmlformats.org/drawingml/2006/main">
              <a:ext uri="{FF2B5EF4-FFF2-40B4-BE49-F238E27FC236}">
                <a16:creationId xmlns:a16="http://schemas.microsoft.com/office/drawing/2014/main" id="{303AA78B-E95C-4B46-87CD-CCB700BE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B396AD4E-987F-4163-AA7D-579D742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017"/>
                </a:solidFill>
              </a:defRPr>
            </a:pPr>
            <a:r>
              <a:rPr sz="1725" b="1" i="0">
                <a:solidFill>
                  <a:srgbClr val="0B1017"/>
                </a:solidFill>
              </a:rPr>
              <a:t>RULES + TRUST</a:t>
            </a:r>
          </a:p>
        </p:txBody>
      </p:sp>
      <p:sp>
        <p:nvSpPr>
          <p:cNvPr id="23" name="risk-copy-2">
            <a:extLst xmlns:a="http://schemas.openxmlformats.org/drawingml/2006/main">
              <a:ext uri="{FF2B5EF4-FFF2-40B4-BE49-F238E27FC236}">
                <a16:creationId xmlns:a16="http://schemas.microsoft.com/office/drawing/2014/main" id="{9B7FC7A0-7743-4E7E-8075-274C707E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Wrong rules, self-approval, disputes, collusion, or rating manipulation can corrupt credibility.</a:t>
            </a:r>
          </a:p>
        </p:txBody>
      </p:sp>
      <p:sp>
        <p:nvSpPr>
          <p:cNvPr id="24" name="risk-gate-2">
            <a:extLst xmlns:a="http://schemas.openxmlformats.org/drawingml/2006/main">
              <a:ext uri="{FF2B5EF4-FFF2-40B4-BE49-F238E27FC236}">
                <a16:creationId xmlns:a16="http://schemas.microsoft.com/office/drawing/2014/main" id="{49E87815-9F3B-461A-92DA-289055E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FF455D"/>
                </a:solidFill>
              </a:defRPr>
            </a:pPr>
            <a:r>
              <a:rPr sz="675" b="1" i="0">
                <a:solidFill>
                  <a:srgbClr val="FF455D"/>
                </a:solidFill>
              </a:rPr>
              <a:t>Gate: versioned rules, separation of duties, replay, corrections, and appeals.</a:t>
            </a:r>
          </a:p>
        </p:txBody>
      </p:sp>
      <p:sp>
        <p:nvSpPr>
          <p:cNvPr id="25" name="risk-field-3">
            <a:extLst xmlns:a="http://schemas.openxmlformats.org/drawingml/2006/main">
              <a:ext uri="{FF2B5EF4-FFF2-40B4-BE49-F238E27FC236}">
                <a16:creationId xmlns:a16="http://schemas.microsoft.com/office/drawing/2014/main" id="{4A54D9FC-7075-4287-A9A1-941D98E9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5391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F"/>
            </a:solidFill>
            <a:prstDash val="solid"/>
          </a:ln>
        </p:spPr>
      </p:sp>
      <p:sp>
        <p:nvSpPr>
          <p:cNvPr id="26" name="risk-rail-3">
            <a:extLst xmlns:a="http://schemas.openxmlformats.org/drawingml/2006/main">
              <a:ext uri="{FF2B5EF4-FFF2-40B4-BE49-F238E27FC236}">
                <a16:creationId xmlns:a16="http://schemas.microsoft.com/office/drawing/2014/main" id="{870993BF-AEE9-4F2C-850C-E16214D3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5C85359B-DB0D-4257-B926-929134A3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017"/>
                </a:solidFill>
              </a:defRPr>
            </a:pPr>
            <a:r>
              <a:rPr sz="1725" b="1" i="0">
                <a:solidFill>
                  <a:srgbClr val="0B1017"/>
                </a:solidFill>
              </a:rPr>
              <a:t>OPERATIONS + SCALE</a:t>
            </a:r>
          </a:p>
        </p:txBody>
      </p:sp>
      <p:sp>
        <p:nvSpPr>
          <p:cNvPr id="28" name="risk-copy-3">
            <a:extLst xmlns:a="http://schemas.openxmlformats.org/drawingml/2006/main">
              <a:ext uri="{FF2B5EF4-FFF2-40B4-BE49-F238E27FC236}">
                <a16:creationId xmlns:a16="http://schemas.microsoft.com/office/drawing/2014/main" id="{E04E8218-94C3-4817-B726-64DBE0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470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3"/>
                </a:solidFill>
              </a:defRPr>
            </a:pPr>
            <a:r>
              <a:rPr sz="1275" b="0" i="0">
                <a:solidFill>
                  <a:srgbClr val="5C6673"/>
                </a:solidFill>
              </a:rPr>
              <a:t>Media cost, review queues, incident response, and recovery can fail before traffic does.</a:t>
            </a:r>
          </a:p>
        </p:txBody>
      </p:sp>
      <p:sp>
        <p:nvSpPr>
          <p:cNvPr id="29" name="risk-gate-3">
            <a:extLst xmlns:a="http://schemas.openxmlformats.org/drawingml/2006/main">
              <a:ext uri="{FF2B5EF4-FFF2-40B4-BE49-F238E27FC236}">
                <a16:creationId xmlns:a16="http://schemas.microsoft.com/office/drawing/2014/main" id="{87E32639-35BE-40A1-89F1-417AFBC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864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B1017"/>
                </a:solidFill>
              </a:defRPr>
            </a:pPr>
            <a:r>
              <a:rPr sz="675" b="1" i="0">
                <a:solidFill>
                  <a:srgbClr val="0B1017"/>
                </a:solidFill>
              </a:rPr>
              <a:t>Gate: workload budgets, service objectives, drills, and measured breakpoints.</a:t>
            </a:r>
          </a:p>
        </p:txBody>
      </p:sp>
    </p:spTree>
    <p:extLst>
      <p:ext uri="{BB962C8B-B14F-4D97-AF65-F5344CB8AC3E}">
        <p14:creationId xmlns:p14="http://schemas.microsoft.com/office/powerpoint/2010/main" val="3147973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header-blue-13">
            <a:extLst xmlns:a="http://schemas.openxmlformats.org/drawingml/2006/main">
              <a:ext uri="{FF2B5EF4-FFF2-40B4-BE49-F238E27FC236}">
                <a16:creationId xmlns:a16="http://schemas.microsoft.com/office/drawing/2014/main" id="{71A2D1ED-4431-4C3D-A77E-D5EA270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section-13">
            <a:extLst xmlns:a="http://schemas.openxmlformats.org/drawingml/2006/main">
              <a:ext uri="{FF2B5EF4-FFF2-40B4-BE49-F238E27FC236}">
                <a16:creationId xmlns:a16="http://schemas.microsoft.com/office/drawing/2014/main" id="{70742AD3-EFE3-4089-BF92-AAA5BEF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STAGED PROGRAM</a:t>
            </a:r>
          </a:p>
        </p:txBody>
      </p:sp>
      <p:sp>
        <p:nvSpPr>
          <p:cNvPr id="3" name="header-title-13">
            <a:extLst xmlns:a="http://schemas.openxmlformats.org/drawingml/2006/main">
              <a:ext uri="{FF2B5EF4-FFF2-40B4-BE49-F238E27FC236}">
                <a16:creationId xmlns:a16="http://schemas.microsoft.com/office/drawing/2014/main" id="{8A74CA06-6C13-4ADA-8B8C-EDF63EA1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Fund completed evidence, not elapsed time</a:t>
            </a:r>
          </a:p>
        </p:txBody>
      </p:sp>
      <p:sp>
        <p:nvSpPr>
          <p:cNvPr id="4" name="header-subtitle-13">
            <a:extLst xmlns:a="http://schemas.openxmlformats.org/drawingml/2006/main">
              <a:ext uri="{FF2B5EF4-FFF2-40B4-BE49-F238E27FC236}">
                <a16:creationId xmlns:a16="http://schemas.microsoft.com/office/drawing/2014/main" id="{39A6B8E3-96FD-4160-B559-1BFF3EB6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AFBC"/>
                </a:solidFill>
              </a:defRPr>
            </a:pPr>
            <a:r>
              <a:rPr sz="1350" b="0" i="0">
                <a:solidFill>
                  <a:srgbClr val="A6AFBC"/>
                </a:solidFill>
              </a:rPr>
              <a:t>The program advances through four decision gates. Later AI options remain visible without becoming premature commitments.</a:t>
            </a:r>
          </a:p>
        </p:txBody>
      </p:sp>
      <p:sp>
        <p:nvSpPr>
          <p:cNvPr id="5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32242345-C717-412D-AC3B-278D22C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1591b970443ba">
            <a:extLst>
              <a:ext uri="{96DAC541-7B7A-43D3-8B79-37D633B846F1}">
                <asvg:svgBlip xmlns:asvg="http://schemas.microsoft.com/office/drawing/2016/SVG/main" r:embed="R404fad2c9a6343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34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9AF6CC49-ADD0-40FC-B919-8298E985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505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FAFC"/>
                </a:solidFill>
              </a:defRPr>
            </a:pPr>
            <a:r>
              <a:rPr sz="9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8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B1FE068D-BD98-4BB7-A83E-4310C568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055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STRATEGIC PARTNER BRIEF / STAGED PROGRAM</a:t>
            </a:r>
          </a:p>
        </p:txBody>
      </p:sp>
      <p:sp>
        <p:nvSpPr>
          <p:cNvPr id="9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CF22B7AC-9776-4A61-A756-B8396E1B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055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A6AFBC"/>
                </a:solidFill>
              </a:defRPr>
            </a:pPr>
            <a:r>
              <a:rPr sz="750" b="0" i="0">
                <a:solidFill>
                  <a:srgbClr val="A6AFBC"/>
                </a:solidFill>
              </a:rPr>
              <a:t>13 / 14</a:t>
            </a:r>
          </a:p>
        </p:txBody>
      </p:sp>
      <p:sp>
        <p:nvSpPr>
          <p:cNvPr id="10" name="program-field-0">
            <a:extLst xmlns:a="http://schemas.openxmlformats.org/drawingml/2006/main">
              <a:ext uri="{FF2B5EF4-FFF2-40B4-BE49-F238E27FC236}">
                <a16:creationId xmlns:a16="http://schemas.microsoft.com/office/drawing/2014/main" id="{FD924831-517F-42AB-9F3C-1138B24E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438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19050">
            <a:solidFill>
              <a:srgbClr val="3478FF"/>
            </a:solidFill>
            <a:prstDash val="solid"/>
          </a:ln>
        </p:spPr>
      </p:sp>
      <p:sp>
        <p:nvSpPr>
          <p:cNvPr id="11" name="program-gate-0">
            <a:extLst xmlns:a="http://schemas.openxmlformats.org/drawingml/2006/main">
              <a:ext uri="{FF2B5EF4-FFF2-40B4-BE49-F238E27FC236}">
                <a16:creationId xmlns:a16="http://schemas.microsoft.com/office/drawing/2014/main" id="{98405C5A-8DD6-4615-8A8B-95DAF7D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GATE 1</a:t>
            </a:r>
          </a:p>
        </p:txBody>
      </p:sp>
      <p:sp>
        <p:nvSpPr>
          <p:cNvPr id="12" name="program-label-0">
            <a:extLst xmlns:a="http://schemas.openxmlformats.org/drawingml/2006/main">
              <a:ext uri="{FF2B5EF4-FFF2-40B4-BE49-F238E27FC236}">
                <a16:creationId xmlns:a16="http://schemas.microsoft.com/office/drawing/2014/main" id="{A8577B1E-F6FF-41AA-927E-7F8A5992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8FAFC"/>
                </a:solidFill>
              </a:defRPr>
            </a:pPr>
            <a:r>
              <a:rPr sz="2100" b="1" i="0">
                <a:solidFill>
                  <a:srgbClr val="F8FAFC"/>
                </a:solidFill>
              </a:rPr>
              <a:t>PROVE AUTHORITY</a:t>
            </a:r>
          </a:p>
        </p:txBody>
      </p:sp>
      <p:sp>
        <p:nvSpPr>
          <p:cNvPr id="13" name="program-rule-0">
            <a:extLst xmlns:a="http://schemas.openxmlformats.org/drawingml/2006/main">
              <a:ext uri="{FF2B5EF4-FFF2-40B4-BE49-F238E27FC236}">
                <a16:creationId xmlns:a16="http://schemas.microsoft.com/office/drawing/2014/main" id="{467E7DC0-A770-44C4-AAAE-E8B70C88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gram-evidence-0">
            <a:extLst xmlns:a="http://schemas.openxmlformats.org/drawingml/2006/main">
              <a:ext uri="{FF2B5EF4-FFF2-40B4-BE49-F238E27FC236}">
                <a16:creationId xmlns:a16="http://schemas.microsoft.com/office/drawing/2014/main" id="{01857625-FC36-4CFA-9E72-83A342BB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8FAFC"/>
                </a:solidFill>
              </a:defRPr>
            </a:pPr>
            <a:r>
              <a:rPr sz="1275" b="0" i="0">
                <a:solidFill>
                  <a:srgbClr val="F8FAFC"/>
                </a:solidFill>
              </a:rPr>
              <a:t>Locate source</a:t>
            </a:r>
          </a:p>
          <a:p xmlns:a="http://schemas.openxmlformats.org/drawingml/2006/main">
            <a:pPr algn="l">
              <a:defRPr sz="1275" b="0" i="0">
                <a:solidFill>
                  <a:srgbClr val="F8FAFC"/>
                </a:solidFill>
              </a:defRPr>
            </a:pPr>
            <a:r>
              <a:rPr sz="1275" b="0" i="0">
                <a:solidFill>
                  <a:srgbClr val="F8FAFC"/>
                </a:solidFill>
              </a:rPr>
              <a:t>Sign rules + roles</a:t>
            </a:r>
          </a:p>
          <a:p xmlns:a="http://schemas.openxmlformats.org/drawingml/2006/main">
            <a:pPr algn="l">
              <a:defRPr sz="1275" b="0" i="0">
                <a:solidFill>
                  <a:srgbClr val="F8FAFC"/>
                </a:solidFill>
              </a:defRPr>
            </a:pPr>
            <a:r>
              <a:rPr sz="1275" b="0" i="0">
                <a:solidFill>
                  <a:srgbClr val="F8FAFC"/>
                </a:solidFill>
              </a:rPr>
              <a:t>Approve rights boundaries</a:t>
            </a:r>
          </a:p>
        </p:txBody>
      </p:sp>
      <p:sp>
        <p:nvSpPr>
          <p:cNvPr id="15" name="program-unlock-0">
            <a:extLst xmlns:a="http://schemas.openxmlformats.org/drawingml/2006/main">
              <a:ext uri="{FF2B5EF4-FFF2-40B4-BE49-F238E27FC236}">
                <a16:creationId xmlns:a16="http://schemas.microsoft.com/office/drawing/2014/main" id="{656959B6-7B8A-4C3F-AF8D-0C9EC781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8FAFC"/>
                </a:solidFill>
              </a:defRPr>
            </a:pPr>
            <a:r>
              <a:rPr sz="675" b="1" i="0">
                <a:solidFill>
                  <a:srgbClr val="F8FAFC"/>
                </a:solidFill>
              </a:rPr>
              <a:t>UNLOCKS TRUSTED CORE</a:t>
            </a:r>
          </a:p>
        </p:txBody>
      </p:sp>
      <p:sp>
        <p:nvSpPr>
          <p:cNvPr id="16" name="program-field-1">
            <a:extLst xmlns:a="http://schemas.openxmlformats.org/drawingml/2006/main">
              <a:ext uri="{FF2B5EF4-FFF2-40B4-BE49-F238E27FC236}">
                <a16:creationId xmlns:a16="http://schemas.microsoft.com/office/drawing/2014/main" id="{348E3F2E-38F0-41FD-A193-114603D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438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17" name="program-gate-1">
            <a:extLst xmlns:a="http://schemas.openxmlformats.org/drawingml/2006/main">
              <a:ext uri="{FF2B5EF4-FFF2-40B4-BE49-F238E27FC236}">
                <a16:creationId xmlns:a16="http://schemas.microsoft.com/office/drawing/2014/main" id="{63F597D9-584C-415B-8C86-E6493D6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GATE 2</a:t>
            </a:r>
          </a:p>
        </p:txBody>
      </p:sp>
      <p:sp>
        <p:nvSpPr>
          <p:cNvPr id="18" name="program-label-1">
            <a:extLst xmlns:a="http://schemas.openxmlformats.org/drawingml/2006/main">
              <a:ext uri="{FF2B5EF4-FFF2-40B4-BE49-F238E27FC236}">
                <a16:creationId xmlns:a16="http://schemas.microsoft.com/office/drawing/2014/main" id="{5B02A072-ECAB-463D-8BC7-79C4A73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8FAFC"/>
                </a:solidFill>
              </a:defRPr>
            </a:pPr>
            <a:r>
              <a:rPr sz="2100" b="1" i="0">
                <a:solidFill>
                  <a:srgbClr val="F8FAFC"/>
                </a:solidFill>
              </a:rPr>
              <a:t>PROVE VALUE</a:t>
            </a:r>
          </a:p>
        </p:txBody>
      </p:sp>
      <p:sp>
        <p:nvSpPr>
          <p:cNvPr id="19" name="program-rule-1">
            <a:extLst xmlns:a="http://schemas.openxmlformats.org/drawingml/2006/main">
              <a:ext uri="{FF2B5EF4-FFF2-40B4-BE49-F238E27FC236}">
                <a16:creationId xmlns:a16="http://schemas.microsoft.com/office/drawing/2014/main" id="{BBA41CA7-344B-4D3F-B7D2-12562CC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gram-evidence-1">
            <a:extLst xmlns:a="http://schemas.openxmlformats.org/drawingml/2006/main">
              <a:ext uri="{FF2B5EF4-FFF2-40B4-BE49-F238E27FC236}">
                <a16:creationId xmlns:a16="http://schemas.microsoft.com/office/drawing/2014/main" id="{2CE2EB49-9953-403E-A9B0-A5EE527A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Replay results</a:t>
            </a:r>
          </a:p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Explain ratings</a:t>
            </a:r>
          </a:p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Show repeat pilot use</a:t>
            </a:r>
          </a:p>
        </p:txBody>
      </p:sp>
      <p:sp>
        <p:nvSpPr>
          <p:cNvPr id="21" name="program-unlock-1">
            <a:extLst xmlns:a="http://schemas.openxmlformats.org/drawingml/2006/main">
              <a:ext uri="{FF2B5EF4-FFF2-40B4-BE49-F238E27FC236}">
                <a16:creationId xmlns:a16="http://schemas.microsoft.com/office/drawing/2014/main" id="{B7AAB2D9-D743-4FBA-B6E6-8551B2ED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00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478FF"/>
                </a:solidFill>
              </a:defRPr>
            </a:pPr>
            <a:r>
              <a:rPr sz="675" b="1" i="0">
                <a:solidFill>
                  <a:srgbClr val="3478FF"/>
                </a:solidFill>
              </a:rPr>
              <a:t>UNLOCKS COMMUNITY</a:t>
            </a:r>
          </a:p>
        </p:txBody>
      </p:sp>
      <p:sp>
        <p:nvSpPr>
          <p:cNvPr id="22" name="program-field-2">
            <a:extLst xmlns:a="http://schemas.openxmlformats.org/drawingml/2006/main">
              <a:ext uri="{FF2B5EF4-FFF2-40B4-BE49-F238E27FC236}">
                <a16:creationId xmlns:a16="http://schemas.microsoft.com/office/drawing/2014/main" id="{58B52656-CB86-42B3-8672-C8253AC1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438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3" name="program-gate-2">
            <a:extLst xmlns:a="http://schemas.openxmlformats.org/drawingml/2006/main">
              <a:ext uri="{FF2B5EF4-FFF2-40B4-BE49-F238E27FC236}">
                <a16:creationId xmlns:a16="http://schemas.microsoft.com/office/drawing/2014/main" id="{85F076FC-551B-4E9F-ACE7-440B4135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GATE 3</a:t>
            </a:r>
          </a:p>
        </p:txBody>
      </p:sp>
      <p:sp>
        <p:nvSpPr>
          <p:cNvPr id="24" name="program-label-2">
            <a:extLst xmlns:a="http://schemas.openxmlformats.org/drawingml/2006/main">
              <a:ext uri="{FF2B5EF4-FFF2-40B4-BE49-F238E27FC236}">
                <a16:creationId xmlns:a16="http://schemas.microsoft.com/office/drawing/2014/main" id="{0EABF64F-CE91-49A3-ACEA-DF2D76B8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8FAFC"/>
                </a:solidFill>
              </a:defRPr>
            </a:pPr>
            <a:r>
              <a:rPr sz="2100" b="1" i="0">
                <a:solidFill>
                  <a:srgbClr val="F8FAFC"/>
                </a:solidFill>
              </a:rPr>
              <a:t>PROVE ASSISTANCE</a:t>
            </a:r>
          </a:p>
        </p:txBody>
      </p:sp>
      <p:sp>
        <p:nvSpPr>
          <p:cNvPr id="25" name="program-rule-2">
            <a:extLst xmlns:a="http://schemas.openxmlformats.org/drawingml/2006/main">
              <a:ext uri="{FF2B5EF4-FFF2-40B4-BE49-F238E27FC236}">
                <a16:creationId xmlns:a16="http://schemas.microsoft.com/office/drawing/2014/main" id="{629F6ADD-45A4-421E-9101-7FE2955D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gram-evidence-2">
            <a:extLst xmlns:a="http://schemas.openxmlformats.org/drawingml/2006/main">
              <a:ext uri="{FF2B5EF4-FFF2-40B4-BE49-F238E27FC236}">
                <a16:creationId xmlns:a16="http://schemas.microsoft.com/office/drawing/2014/main" id="{477737D4-2341-413F-A866-1E000E9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Beat baseline</a:t>
            </a:r>
          </a:p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No access leakage</a:t>
            </a:r>
          </a:p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Reduce review burden</a:t>
            </a:r>
          </a:p>
        </p:txBody>
      </p:sp>
      <p:sp>
        <p:nvSpPr>
          <p:cNvPr id="27" name="program-unlock-2">
            <a:extLst xmlns:a="http://schemas.openxmlformats.org/drawingml/2006/main">
              <a:ext uri="{FF2B5EF4-FFF2-40B4-BE49-F238E27FC236}">
                <a16:creationId xmlns:a16="http://schemas.microsoft.com/office/drawing/2014/main" id="{62FE31A6-C5D4-4A9D-9170-EBC9FB0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478FF"/>
                </a:solidFill>
              </a:defRPr>
            </a:pPr>
            <a:r>
              <a:rPr sz="675" b="1" i="0">
                <a:solidFill>
                  <a:srgbClr val="3478FF"/>
                </a:solidFill>
              </a:rPr>
              <a:t>UNLOCKS BOUNDED AI</a:t>
            </a:r>
          </a:p>
        </p:txBody>
      </p:sp>
      <p:sp>
        <p:nvSpPr>
          <p:cNvPr id="28" name="program-field-3">
            <a:extLst xmlns:a="http://schemas.openxmlformats.org/drawingml/2006/main">
              <a:ext uri="{FF2B5EF4-FFF2-40B4-BE49-F238E27FC236}">
                <a16:creationId xmlns:a16="http://schemas.microsoft.com/office/drawing/2014/main" id="{4D096390-FEEA-40D3-9DB2-CF30A044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438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9525">
            <a:solidFill>
              <a:srgbClr val="2B3544"/>
            </a:solidFill>
            <a:prstDash val="solid"/>
          </a:ln>
        </p:spPr>
      </p:sp>
      <p:sp>
        <p:nvSpPr>
          <p:cNvPr id="29" name="program-gate-3">
            <a:extLst xmlns:a="http://schemas.openxmlformats.org/drawingml/2006/main">
              <a:ext uri="{FF2B5EF4-FFF2-40B4-BE49-F238E27FC236}">
                <a16:creationId xmlns:a16="http://schemas.microsoft.com/office/drawing/2014/main" id="{77977B05-B3A4-47A6-BC10-10FBCED9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478FF"/>
                </a:solidFill>
              </a:defRPr>
            </a:pPr>
            <a:r>
              <a:rPr sz="825" b="1" i="0">
                <a:solidFill>
                  <a:srgbClr val="3478FF"/>
                </a:solidFill>
              </a:rPr>
              <a:t>GATE 4</a:t>
            </a:r>
          </a:p>
        </p:txBody>
      </p:sp>
      <p:sp>
        <p:nvSpPr>
          <p:cNvPr id="30" name="program-label-3">
            <a:extLst xmlns:a="http://schemas.openxmlformats.org/drawingml/2006/main">
              <a:ext uri="{FF2B5EF4-FFF2-40B4-BE49-F238E27FC236}">
                <a16:creationId xmlns:a16="http://schemas.microsoft.com/office/drawing/2014/main" id="{1EAFFB00-866A-4913-96F9-1413868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8FAFC"/>
                </a:solidFill>
              </a:defRPr>
            </a:pPr>
            <a:r>
              <a:rPr sz="2100" b="1" i="0">
                <a:solidFill>
                  <a:srgbClr val="F8FAFC"/>
                </a:solidFill>
              </a:rPr>
              <a:t>PROVE PERCEPTION</a:t>
            </a:r>
          </a:p>
        </p:txBody>
      </p:sp>
      <p:sp>
        <p:nvSpPr>
          <p:cNvPr id="31" name="program-rule-3">
            <a:extLst xmlns:a="http://schemas.openxmlformats.org/drawingml/2006/main">
              <a:ext uri="{FF2B5EF4-FFF2-40B4-BE49-F238E27FC236}">
                <a16:creationId xmlns:a16="http://schemas.microsoft.com/office/drawing/2014/main" id="{4B0CC18A-4B22-4498-86EA-90F024E4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gram-evidence-3">
            <a:extLst xmlns:a="http://schemas.openxmlformats.org/drawingml/2006/main">
              <a:ext uri="{FF2B5EF4-FFF2-40B4-BE49-F238E27FC236}">
                <a16:creationId xmlns:a16="http://schemas.microsoft.com/office/drawing/2014/main" id="{4844CB23-EB35-4CEB-B058-05375E5C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Pass hard strata</a:t>
            </a:r>
          </a:p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Calibrate + abstain</a:t>
            </a:r>
          </a:p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Fit camera + cost</a:t>
            </a:r>
          </a:p>
        </p:txBody>
      </p:sp>
      <p:sp>
        <p:nvSpPr>
          <p:cNvPr id="33" name="program-unlock-3">
            <a:extLst xmlns:a="http://schemas.openxmlformats.org/drawingml/2006/main">
              <a:ext uri="{FF2B5EF4-FFF2-40B4-BE49-F238E27FC236}">
                <a16:creationId xmlns:a16="http://schemas.microsoft.com/office/drawing/2014/main" id="{1FAED0E1-86A1-4EE3-98C8-F926FD1D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00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B13B"/>
                </a:solidFill>
              </a:defRPr>
            </a:pPr>
            <a:r>
              <a:rPr sz="675" b="1" i="0">
                <a:solidFill>
                  <a:srgbClr val="FFB13B"/>
                </a:solidFill>
              </a:rPr>
              <a:t>UNLOCKS RESEARCH OPTION</a:t>
            </a:r>
          </a:p>
        </p:txBody>
      </p:sp>
      <p:sp>
        <p:nvSpPr>
          <p:cNvPr id="34" name="program-bottom">
            <a:extLst xmlns:a="http://schemas.openxmlformats.org/drawingml/2006/main">
              <a:ext uri="{FF2B5EF4-FFF2-40B4-BE49-F238E27FC236}">
                <a16:creationId xmlns:a16="http://schemas.microsoft.com/office/drawing/2014/main" id="{60C72408-B616-4CE3-A9B5-2DBE912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8FAFC"/>
                </a:solidFill>
              </a:defRPr>
            </a:pPr>
            <a:r>
              <a:rPr sz="825" b="1" i="0">
                <a:solidFill>
                  <a:srgbClr val="F8FAFC"/>
                </a:solidFill>
              </a:rPr>
              <a:t>PHASES 0-6 / TIMING FOLLOWS EVIDENCE / RESEARCH CAN NARROW OR STOP</a:t>
            </a:r>
          </a:p>
        </p:txBody>
      </p:sp>
    </p:spTree>
    <p:extLst>
      <p:ext uri="{BB962C8B-B14F-4D97-AF65-F5344CB8AC3E}">
        <p14:creationId xmlns:p14="http://schemas.microsoft.com/office/powerpoint/2010/main" val="159274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lose-blue">
            <a:extLst xmlns:a="http://schemas.openxmlformats.org/drawingml/2006/main">
              <a:ext uri="{FF2B5EF4-FFF2-40B4-BE49-F238E27FC236}">
                <a16:creationId xmlns:a16="http://schemas.microsoft.com/office/drawing/2014/main" id="{B0036364-F44F-4CB2-8605-CCD799F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06b4eaa841f0">
            <a:extLst>
              <a:ext uri="{96DAC541-7B7A-43D3-8B79-37D633B846F1}">
                <asvg:svgBlip xmlns:asvg="http://schemas.microsoft.com/office/drawing/2016/SVG/main" r:embed="R239a9223a8ef43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close-wordmark">
            <a:extLst xmlns:a="http://schemas.openxmlformats.org/drawingml/2006/main">
              <a:ext uri="{FF2B5EF4-FFF2-40B4-BE49-F238E27FC236}">
                <a16:creationId xmlns:a16="http://schemas.microsoft.com/office/drawing/2014/main" id="{F3EF2AB8-8201-4F3A-8E15-3F18783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8FAFC"/>
                </a:solidFill>
              </a:defRPr>
            </a:pPr>
            <a:r>
              <a:rPr sz="2100" b="1" i="0">
                <a:solidFill>
                  <a:srgbClr val="F8FAFC"/>
                </a:solidFill>
              </a:rPr>
              <a:t>SAPAR</a:t>
            </a:r>
          </a:p>
        </p:txBody>
      </p:sp>
      <p:sp>
        <p:nvSpPr>
          <p:cNvPr id="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92CE818-59B9-4945-BA44-581D1CA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78FF"/>
                </a:solidFill>
              </a:defRPr>
            </a:pPr>
            <a:r>
              <a:rPr sz="900" b="1" i="0">
                <a:solidFill>
                  <a:srgbClr val="3478FF"/>
                </a:solidFill>
              </a:rPr>
              <a:t>THE NEXT MOVE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986F0BE-3E75-4A4D-B18C-F23BBA96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8FAFC"/>
                </a:solidFill>
              </a:defRPr>
            </a:pPr>
            <a:r>
              <a:rPr sz="3900" b="1" i="0">
                <a:solidFill>
                  <a:srgbClr val="F8FAFC"/>
                </a:solidFill>
              </a:rPr>
              <a:t>Start with one</a:t>
            </a:r>
          </a:p>
          <a:p xmlns:a="http://schemas.openxmlformats.org/drawingml/2006/main">
            <a:pPr algn="l">
              <a:defRPr sz="3900" b="1" i="0">
                <a:solidFill>
                  <a:srgbClr val="F8FAFC"/>
                </a:solidFill>
              </a:defRPr>
            </a:pPr>
            <a:r>
              <a:rPr sz="3900" b="1" i="0">
                <a:solidFill>
                  <a:srgbClr val="F8FAFC"/>
                </a:solidFill>
              </a:rPr>
              <a:t>closed, adult-only pilot.</a:t>
            </a:r>
          </a:p>
        </p:txBody>
      </p:sp>
      <p:sp>
        <p:nvSpPr>
          <p:cNvPr id="6" name="close-sub">
            <a:extLst xmlns:a="http://schemas.openxmlformats.org/drawingml/2006/main">
              <a:ext uri="{FF2B5EF4-FFF2-40B4-BE49-F238E27FC236}">
                <a16:creationId xmlns:a16="http://schemas.microsoft.com/office/drawing/2014/main" id="{89802594-3BDA-4D86-A2AC-AF037D45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3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6AFBC"/>
                </a:solidFill>
              </a:defRPr>
            </a:pPr>
            <a:r>
              <a:rPr sz="1875" b="0" i="0">
                <a:solidFill>
                  <a:srgbClr val="A6AFBC"/>
                </a:solidFill>
              </a:rPr>
              <a:t>Prove the trusted competition core. Create the data flywheel. Advance body tracking only when the evidence earns it.</a:t>
            </a:r>
          </a:p>
        </p:txBody>
      </p:sp>
      <p:sp>
        <p:nvSpPr>
          <p:cNvPr id="7" name="close-n-0-disc">
            <a:extLst xmlns:a="http://schemas.openxmlformats.org/drawingml/2006/main">
              <a:ext uri="{FF2B5EF4-FFF2-40B4-BE49-F238E27FC236}">
                <a16:creationId xmlns:a16="http://schemas.microsoft.com/office/drawing/2014/main" id="{2DD10798-2A7A-4028-9D21-7406E374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n-0-value">
            <a:extLst xmlns:a="http://schemas.openxmlformats.org/drawingml/2006/main">
              <a:ext uri="{FF2B5EF4-FFF2-40B4-BE49-F238E27FC236}">
                <a16:creationId xmlns:a16="http://schemas.microsoft.com/office/drawing/2014/main" id="{06FB768D-4DD5-4B68-9A45-3441DDE6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478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01</a:t>
            </a:r>
          </a:p>
        </p:txBody>
      </p:sp>
      <p:sp>
        <p:nvSpPr>
          <p:cNvPr id="9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3F25821F-F133-4DC6-9910-7A93BD43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PILOT ACCESS</a:t>
            </a:r>
          </a:p>
        </p:txBody>
      </p:sp>
      <p:sp>
        <p:nvSpPr>
          <p:cNvPr id="10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EBDD6AAB-0323-48BE-B620-02D8929B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Selected gyms, events, operators, and representative capture conditions.</a:t>
            </a:r>
          </a:p>
        </p:txBody>
      </p:sp>
      <p:sp>
        <p:nvSpPr>
          <p:cNvPr id="11" name="close-n-1-disc">
            <a:extLst xmlns:a="http://schemas.openxmlformats.org/drawingml/2006/main">
              <a:ext uri="{FF2B5EF4-FFF2-40B4-BE49-F238E27FC236}">
                <a16:creationId xmlns:a16="http://schemas.microsoft.com/office/drawing/2014/main" id="{E77FE769-7274-49A3-AC4B-FE04482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n-1-value">
            <a:extLst xmlns:a="http://schemas.openxmlformats.org/drawingml/2006/main">
              <a:ext uri="{FF2B5EF4-FFF2-40B4-BE49-F238E27FC236}">
                <a16:creationId xmlns:a16="http://schemas.microsoft.com/office/drawing/2014/main" id="{40B320C7-7BE4-43C7-8954-2358F49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03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02</a:t>
            </a:r>
          </a:p>
        </p:txBody>
      </p:sp>
      <p:sp>
        <p:nvSpPr>
          <p:cNvPr id="13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01F5F6F3-42C4-4B9E-A62C-71EB7FF4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DOMAIN AUTHORITY</a:t>
            </a:r>
          </a:p>
        </p:txBody>
      </p:sp>
      <p:sp>
        <p:nvSpPr>
          <p:cNvPr id="14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7BCFB1AF-3EE6-4073-BA50-8A42D539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Rules-qualified officials, privacy review, and explicit data rights.</a:t>
            </a:r>
          </a:p>
        </p:txBody>
      </p:sp>
      <p:sp>
        <p:nvSpPr>
          <p:cNvPr id="15" name="close-n-2-disc">
            <a:extLst xmlns:a="http://schemas.openxmlformats.org/drawingml/2006/main">
              <a:ext uri="{FF2B5EF4-FFF2-40B4-BE49-F238E27FC236}">
                <a16:creationId xmlns:a16="http://schemas.microsoft.com/office/drawing/2014/main" id="{43D35D5F-67B5-49EA-A5EA-769DB81D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B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n-2-value">
            <a:extLst xmlns:a="http://schemas.openxmlformats.org/drawingml/2006/main">
              <a:ext uri="{FF2B5EF4-FFF2-40B4-BE49-F238E27FC236}">
                <a16:creationId xmlns:a16="http://schemas.microsoft.com/office/drawing/2014/main" id="{B4557852-EA26-4FF2-B478-8DFE896B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529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03</a:t>
            </a:r>
          </a:p>
        </p:txBody>
      </p:sp>
      <p:sp>
        <p:nvSpPr>
          <p:cNvPr id="1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94AEFA05-4462-4881-A9EA-E700578E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STRATEGIC SUPPORT</a:t>
            </a:r>
          </a:p>
        </p:txBody>
      </p:sp>
      <p:sp>
        <p:nvSpPr>
          <p:cNvPr id="18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684CFA57-D3B4-4354-8203-9B616EB3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53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AFBC"/>
                </a:solidFill>
              </a:defRPr>
            </a:pPr>
            <a:r>
              <a:rPr sz="1275" b="0" i="0">
                <a:solidFill>
                  <a:srgbClr val="A6AFBC"/>
                </a:solidFill>
              </a:rPr>
              <a:t>Product, operating, and capital partnership shaped around proof gates.</a:t>
            </a:r>
          </a:p>
        </p:txBody>
      </p:sp>
      <p:sp>
        <p:nvSpPr>
          <p:cNvPr id="19" name="close-rule">
            <a:extLst xmlns:a="http://schemas.openxmlformats.org/drawingml/2006/main">
              <a:ext uri="{FF2B5EF4-FFF2-40B4-BE49-F238E27FC236}">
                <a16:creationId xmlns:a16="http://schemas.microsoft.com/office/drawing/2014/main" id="{8F0E3F3F-53FE-4BDB-AE4B-5E06040C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final">
            <a:extLst xmlns:a="http://schemas.openxmlformats.org/drawingml/2006/main">
              <a:ext uri="{FF2B5EF4-FFF2-40B4-BE49-F238E27FC236}">
                <a16:creationId xmlns:a16="http://schemas.microsoft.com/office/drawing/2014/main" id="{FC77D973-370C-4D7B-99F6-B44BB1F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8FAFC"/>
                </a:solidFill>
              </a:defRPr>
            </a:pPr>
            <a:r>
              <a:rPr sz="2250" b="1" i="0">
                <a:solidFill>
                  <a:srgbClr val="F8FAFC"/>
                </a:solidFill>
              </a:rPr>
              <a:t>BUILD THE TRUSTED NETWORK.</a:t>
            </a:r>
          </a:p>
          <a:p xmlns:a="http://schemas.openxmlformats.org/drawingml/2006/main">
            <a:pPr algn="l">
              <a:defRPr sz="2250" b="1" i="0">
                <a:solidFill>
                  <a:srgbClr val="F8FAFC"/>
                </a:solidFill>
              </a:defRPr>
            </a:pPr>
            <a:r>
              <a:rPr sz="2250" b="1" i="0">
                <a:solidFill>
                  <a:srgbClr val="F8FAFC"/>
                </a:solidFill>
              </a:rPr>
              <a:t>EARN THE DATA. THEN AUTOMATE.</a:t>
            </a:r>
          </a:p>
        </p:txBody>
      </p:sp>
      <p:sp>
        <p:nvSpPr>
          <p:cNvPr id="21" name="close-owner">
            <a:extLst xmlns:a="http://schemas.openxmlformats.org/drawingml/2006/main">
              <a:ext uri="{FF2B5EF4-FFF2-40B4-BE49-F238E27FC236}">
                <a16:creationId xmlns:a16="http://schemas.microsoft.com/office/drawing/2014/main" id="{CC5F6BA1-D2D3-422F-90D1-918C5AE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48350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6AFBC"/>
                </a:solidFill>
              </a:defRPr>
            </a:pPr>
            <a:r>
              <a:rPr sz="675" b="0" i="0">
                <a:solidFill>
                  <a:srgbClr val="A6AFBC"/>
                </a:solidFill>
              </a:rPr>
              <a:t>Commercial structure and investment terms to be defined with SAPAR leadership.</a:t>
            </a:r>
          </a:p>
        </p:txBody>
      </p:sp>
    </p:spTree>
    <p:extLst>
      <p:ext uri="{BB962C8B-B14F-4D97-AF65-F5344CB8AC3E}">
        <p14:creationId xmlns:p14="http://schemas.microsoft.com/office/powerpoint/2010/main" val="558461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2026-09-02T01:16:41.6340000Z</dcterms:created>
  <dcterms:modified xsi:type="dcterms:W3CDTF">2026-09-02T01:16:41.6340000Z</dcterms:modified>
</coreProperties>
</file>